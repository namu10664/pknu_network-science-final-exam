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71" r:id="rId2"/>
    <p:sldId id="273" r:id="rId3"/>
    <p:sldId id="294" r:id="rId4"/>
    <p:sldId id="322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333" r:id="rId39"/>
    <p:sldId id="334" r:id="rId40"/>
    <p:sldId id="335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43" r:id="rId49"/>
    <p:sldId id="344" r:id="rId50"/>
    <p:sldId id="345" r:id="rId51"/>
    <p:sldId id="346" r:id="rId52"/>
    <p:sldId id="347" r:id="rId53"/>
    <p:sldId id="372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718EA0"/>
    <a:srgbClr val="6C899B"/>
    <a:srgbClr val="F3F9FB"/>
    <a:srgbClr val="F9FCFD"/>
    <a:srgbClr val="23B0C3"/>
    <a:srgbClr val="146772"/>
    <a:srgbClr val="95E2EC"/>
    <a:srgbClr val="D0C6E9"/>
    <a:srgbClr val="FAD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82" y="11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C31F86-A881-4785-B7E6-10E2BA3E7B57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A6A99-507B-44C4-A9C6-AC97983B44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46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98245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82200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00566" y="1438441"/>
            <a:ext cx="49968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spc="-150" dirty="0">
                <a:solidFill>
                  <a:schemeClr val="bg1"/>
                </a:solidFill>
              </a:rPr>
              <a:t>기말 프로젝트</a:t>
            </a:r>
            <a:endParaRPr lang="en-US" altLang="ko-KR" sz="6000" b="1" spc="-15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3111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202210688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</a:rPr>
              <a:t>안혁진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, 202210664 </a:t>
            </a:r>
            <a:r>
              <a:rPr lang="ko-KR" altLang="en-US" sz="1400" dirty="0" err="1">
                <a:solidFill>
                  <a:schemeClr val="bg1"/>
                </a:solidFill>
              </a:rPr>
              <a:t>박치현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D7768C1-6ADE-61E8-E6FA-0874E5BBC017}"/>
              </a:ext>
            </a:extLst>
          </p:cNvPr>
          <p:cNvSpPr/>
          <p:nvPr/>
        </p:nvSpPr>
        <p:spPr>
          <a:xfrm>
            <a:off x="10058400" y="6391564"/>
            <a:ext cx="2133600" cy="46643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92182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Voter model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3159E5-E6F6-D36F-9748-315FB037E7E1}"/>
              </a:ext>
            </a:extLst>
          </p:cNvPr>
          <p:cNvSpPr/>
          <p:nvPr/>
        </p:nvSpPr>
        <p:spPr>
          <a:xfrm>
            <a:off x="9873673" y="6197600"/>
            <a:ext cx="2318327" cy="6603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3CD5-ADDE-40DA-A087-49AE2C727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2D53CA9-87B8-4627-B0E6-2ACF1AEFB9D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F8003D5-6F8E-8E23-8F78-93A576A3387E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55AF0-D19F-1D54-49BD-5426B85DB167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4FE4B0-6416-F196-B5FB-1C040B4BBA48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5FA6FE7-75F5-E99C-9911-231E643C1CA0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86D50-AB08-1D2E-7811-AC7B141D592F}"/>
              </a:ext>
            </a:extLst>
          </p:cNvPr>
          <p:cNvSpPr txBox="1"/>
          <p:nvPr/>
        </p:nvSpPr>
        <p:spPr>
          <a:xfrm>
            <a:off x="495596" y="1330036"/>
            <a:ext cx="9882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ER </a:t>
            </a:r>
            <a:r>
              <a:rPr lang="ko-KR" altLang="en-US" dirty="0">
                <a:solidFill>
                  <a:schemeClr val="accent1"/>
                </a:solidFill>
              </a:rPr>
              <a:t>네트워크 </a:t>
            </a:r>
            <a:endParaRPr lang="en-US" altLang="ko-KR" dirty="0">
              <a:solidFill>
                <a:schemeClr val="accent1"/>
              </a:solidFill>
            </a:endParaRPr>
          </a:p>
          <a:p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>
                <a:solidFill>
                  <a:schemeClr val="accent1"/>
                </a:solidFill>
              </a:rPr>
              <a:t>:</a:t>
            </a:r>
            <a:r>
              <a:rPr lang="ko-KR" altLang="en-US" dirty="0">
                <a:solidFill>
                  <a:schemeClr val="accent1"/>
                </a:solidFill>
              </a:rPr>
              <a:t> 무작위 연결 패턴을 가진 네트워크로 모든 노드 쌍이 동일한 확률로 연결 </a:t>
            </a:r>
            <a:endParaRPr lang="en-US" altLang="ko-KR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11078-04F4-024F-136C-799AF407339D}"/>
              </a:ext>
            </a:extLst>
          </p:cNvPr>
          <p:cNvSpPr txBox="1"/>
          <p:nvPr/>
        </p:nvSpPr>
        <p:spPr>
          <a:xfrm>
            <a:off x="495596" y="2829064"/>
            <a:ext cx="1059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Voter model</a:t>
            </a:r>
          </a:p>
          <a:p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>
                <a:solidFill>
                  <a:schemeClr val="accent1"/>
                </a:solidFill>
              </a:rPr>
              <a:t>: </a:t>
            </a:r>
            <a:r>
              <a:rPr lang="ko-KR" altLang="en-US" dirty="0">
                <a:solidFill>
                  <a:schemeClr val="accent1"/>
                </a:solidFill>
              </a:rPr>
              <a:t>네트워크의 각 노드가 무작위 단계로 선택되고 노드와 연결된 이웃 노드 중 하나를 일정 확률로 이웃의 의견을 자신의 의견으로 복사 </a:t>
            </a:r>
          </a:p>
        </p:txBody>
      </p:sp>
    </p:spTree>
    <p:extLst>
      <p:ext uri="{BB962C8B-B14F-4D97-AF65-F5344CB8AC3E}">
        <p14:creationId xmlns:p14="http://schemas.microsoft.com/office/powerpoint/2010/main" val="122280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8623-B606-9C57-A9FB-DD9F2CD2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5CAD9CA-56D8-EE1E-FE81-15F39247E75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94ECE15-A0CB-F249-05D0-F9BCCF1BF754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58213-7487-962A-C93E-25D826E04756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F218D93-B818-ECDD-BAC0-2EB8153E692E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C0B5CEE-9DD9-5641-F7E5-4085B67AABF4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9A3D6-55DB-C8EC-AB79-87C8FB787082}"/>
              </a:ext>
            </a:extLst>
          </p:cNvPr>
          <p:cNvSpPr txBox="1"/>
          <p:nvPr/>
        </p:nvSpPr>
        <p:spPr>
          <a:xfrm>
            <a:off x="560502" y="1191536"/>
            <a:ext cx="105972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Voter model</a:t>
            </a:r>
          </a:p>
          <a:p>
            <a:endParaRPr lang="en-US" altLang="ko-KR" dirty="0"/>
          </a:p>
        </p:txBody>
      </p:sp>
      <p:pic>
        <p:nvPicPr>
          <p:cNvPr id="1028" name="Picture 4" descr="Basic voter model interaction. Suppose that in the dynamical evolution... |  Download Scientific Diagram">
            <a:extLst>
              <a:ext uri="{FF2B5EF4-FFF2-40B4-BE49-F238E27FC236}">
                <a16:creationId xmlns:a16="http://schemas.microsoft.com/office/drawing/2014/main" id="{BC88E745-956D-B75C-111C-1188C2D54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298" y="1912748"/>
            <a:ext cx="7315403" cy="416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88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F75B5-26FE-5FEB-5981-8E1089BD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D359418-2DDD-7EA8-1D09-45E59BB6FE1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B4496F-3D6A-7A8C-791E-E03CDBE422CD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4B6FB-F4DA-00A9-3BAD-61D5BA73B1BA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242AA56-84EF-F807-F0A5-22BEBB125FE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5C04D70-44A8-E600-A016-3F55F75A4D32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09F01-A38E-DC24-845A-E873B2ECBE18}"/>
              </a:ext>
            </a:extLst>
          </p:cNvPr>
          <p:cNvSpPr txBox="1"/>
          <p:nvPr/>
        </p:nvSpPr>
        <p:spPr>
          <a:xfrm>
            <a:off x="560502" y="1191536"/>
            <a:ext cx="105972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</a:t>
            </a:r>
            <a:r>
              <a:rPr lang="en-US" altLang="ko-KR" b="1" dirty="0">
                <a:solidFill>
                  <a:schemeClr val="accent1"/>
                </a:solidFill>
              </a:rPr>
              <a:t>ER </a:t>
            </a:r>
            <a:r>
              <a:rPr lang="ko-KR" altLang="en-US" b="1" dirty="0">
                <a:solidFill>
                  <a:schemeClr val="accent1"/>
                </a:solidFill>
              </a:rPr>
              <a:t>네트워크</a:t>
            </a:r>
          </a:p>
          <a:p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2EE530-33A1-1339-D5B4-BC8B45316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47" y="2444227"/>
            <a:ext cx="4764269" cy="254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6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5032-370B-566A-0095-F217A730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196CD42-FC86-5CAB-1689-A0CB269CF19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AE3D24F-1E13-6C00-F2F5-00E62155EE0E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66148-DE7C-7683-F154-768205938641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D00AA98-ED7F-D105-669B-823200E25554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AAD96FD-AED1-7DB2-6682-162B952190B8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83052-CC11-AF29-7053-179F29E1A2B1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voter model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528AE07-3F1B-67D9-10B1-4D28E18F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64" y="2217708"/>
            <a:ext cx="8321846" cy="24768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223874D-2E98-1A4F-C6FB-DE806A77DE66}"/>
              </a:ext>
            </a:extLst>
          </p:cNvPr>
          <p:cNvSpPr txBox="1"/>
          <p:nvPr/>
        </p:nvSpPr>
        <p:spPr>
          <a:xfrm>
            <a:off x="748264" y="4739141"/>
            <a:ext cx="61883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p: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엣지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생성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initial_opinion_ratio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초기 의견 1을 가진 노드의 비율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opinion_change_prob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의견 변경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max_steps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최대 시간 단계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num_runs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실행 횟수</a:t>
            </a:r>
          </a:p>
        </p:txBody>
      </p:sp>
    </p:spTree>
    <p:extLst>
      <p:ext uri="{BB962C8B-B14F-4D97-AF65-F5344CB8AC3E}">
        <p14:creationId xmlns:p14="http://schemas.microsoft.com/office/powerpoint/2010/main" val="4293082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11E6-A6B8-3D95-AFBD-214E40AE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E7EDAB5-8919-0211-E74D-8AAD8F1F963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F5C1A8-371D-1B4C-834F-61AE7D124406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81181-D9EB-98BA-4D7D-B0A968619D72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5B0F411-D237-C9D6-DCBD-BB9BE565155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F7914E6-AC01-657A-F4F6-7D28E9D65635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0A817-CAB8-C91D-D327-8D9E9F0BABB2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voter model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E72A0A4-2E48-89D3-0311-A0354EA1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64" y="2217708"/>
            <a:ext cx="8321846" cy="24768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1E7ADA9-4E94-E131-2BD2-11392527D8CF}"/>
              </a:ext>
            </a:extLst>
          </p:cNvPr>
          <p:cNvSpPr txBox="1"/>
          <p:nvPr/>
        </p:nvSpPr>
        <p:spPr>
          <a:xfrm>
            <a:off x="748264" y="4739141"/>
            <a:ext cx="61883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p: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엣지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생성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initial_opinion_ratio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초기 의견 1을 가진 노드의 비율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opinion_change_prob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의견 변경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max_steps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최대 시간 단계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num_runs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 실행 횟수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01619F5-2053-1E0B-D502-A37F4F2F76D7}"/>
              </a:ext>
            </a:extLst>
          </p:cNvPr>
          <p:cNvCxnSpPr/>
          <p:nvPr/>
        </p:nvCxnSpPr>
        <p:spPr>
          <a:xfrm flipH="1">
            <a:off x="4470400" y="3177309"/>
            <a:ext cx="1219200" cy="406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0482B5-4731-7B16-3EDC-94A4925D522A}"/>
              </a:ext>
            </a:extLst>
          </p:cNvPr>
          <p:cNvSpPr/>
          <p:nvPr/>
        </p:nvSpPr>
        <p:spPr>
          <a:xfrm>
            <a:off x="1089890" y="3500582"/>
            <a:ext cx="3214984" cy="11939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40919-E38B-BBB2-1A96-C4BB2CCB7632}"/>
              </a:ext>
            </a:extLst>
          </p:cNvPr>
          <p:cNvSpPr txBox="1"/>
          <p:nvPr/>
        </p:nvSpPr>
        <p:spPr>
          <a:xfrm>
            <a:off x="5689600" y="2818947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전체 노드 중에서 </a:t>
            </a:r>
            <a:r>
              <a:rPr lang="en-US" altLang="ko-KR" b="1" dirty="0">
                <a:solidFill>
                  <a:schemeClr val="accent1"/>
                </a:solidFill>
              </a:rPr>
              <a:t>nums_opinion_1 </a:t>
            </a:r>
            <a:r>
              <a:rPr lang="ko-KR" altLang="en-US" b="1" dirty="0">
                <a:solidFill>
                  <a:schemeClr val="accent1"/>
                </a:solidFill>
              </a:rPr>
              <a:t>개의 노드를 무작위로 선택해 </a:t>
            </a:r>
            <a:r>
              <a:rPr lang="en-US" altLang="ko-KR" b="1" dirty="0">
                <a:solidFill>
                  <a:schemeClr val="accent1"/>
                </a:solidFill>
              </a:rPr>
              <a:t>set_opinion_1</a:t>
            </a:r>
            <a:r>
              <a:rPr lang="ko-KR" altLang="en-US" b="1" dirty="0">
                <a:solidFill>
                  <a:schemeClr val="accent1"/>
                </a:solidFill>
              </a:rPr>
              <a:t>에 저장하고 이 집합에 포함된 노드들이 초기에 의견 </a:t>
            </a:r>
            <a:r>
              <a:rPr lang="en-US" altLang="ko-KR" b="1" dirty="0">
                <a:solidFill>
                  <a:schemeClr val="accent1"/>
                </a:solidFill>
              </a:rPr>
              <a:t>1</a:t>
            </a:r>
            <a:r>
              <a:rPr lang="ko-KR" altLang="en-US" b="1" dirty="0">
                <a:solidFill>
                  <a:schemeClr val="accent1"/>
                </a:solidFill>
              </a:rPr>
              <a:t>을 가진다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  <a:r>
              <a:rPr lang="ko-KR" altLang="en-US" b="1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0244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B9EC-612A-ED71-EB38-6FC74954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789F95-9293-9DDD-DE8F-7071C51E54E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797ED3-A7C3-5FFA-CF93-61837AA3BFF3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1FCBF-3BEA-0C2A-E60F-A1116077AD68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336CB7B-27DA-BF1C-301E-B74506BF903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5F9FD39-4375-3647-1A5E-8BCEE59C33B1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3D1E8F-F720-4A1A-D7A4-B3F49334C1E0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voter model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0D3ACDC-9294-CF73-3D27-7C5589999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18" y="2110356"/>
            <a:ext cx="4710662" cy="3537558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ED1C716-1411-9FA9-0321-A92D63F6CCED}"/>
              </a:ext>
            </a:extLst>
          </p:cNvPr>
          <p:cNvCxnSpPr/>
          <p:nvPr/>
        </p:nvCxnSpPr>
        <p:spPr>
          <a:xfrm flipH="1">
            <a:off x="5024582" y="1770114"/>
            <a:ext cx="1071418" cy="4895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4A1A14-F6E0-CB29-219D-E56478A5626A}"/>
              </a:ext>
            </a:extLst>
          </p:cNvPr>
          <p:cNvSpPr txBox="1"/>
          <p:nvPr/>
        </p:nvSpPr>
        <p:spPr>
          <a:xfrm>
            <a:off x="6096000" y="1530090"/>
            <a:ext cx="330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1</a:t>
            </a:r>
            <a:r>
              <a:rPr lang="ko-KR" altLang="en-US" b="1" dirty="0">
                <a:solidFill>
                  <a:schemeClr val="accent1"/>
                </a:solidFill>
              </a:rPr>
              <a:t>의 비율을 계산  </a:t>
            </a:r>
          </a:p>
        </p:txBody>
      </p:sp>
    </p:spTree>
    <p:extLst>
      <p:ext uri="{BB962C8B-B14F-4D97-AF65-F5344CB8AC3E}">
        <p14:creationId xmlns:p14="http://schemas.microsoft.com/office/powerpoint/2010/main" val="329366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B0B6-02EC-EDC5-7CDA-69E54C12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902075B-0161-78AF-1FE9-C0ACB19510A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7C8610-5F39-D8A4-AB97-841BFD7FA6DF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FB7EB-F9B5-FC05-0A45-AA59BB213D6B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579D9CF-D57E-B51E-B0F1-E4D16CD44567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508BD93-BA68-1BE1-F7DA-59FCE70FD272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04F37-B38F-02EC-9B6C-B6C7830341D6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voter model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43208E-A2BD-DAF7-1B93-37758CCF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18" y="2110356"/>
            <a:ext cx="4710662" cy="35375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42449E7-1467-B9A2-DA88-C45A3E18D84B}"/>
              </a:ext>
            </a:extLst>
          </p:cNvPr>
          <p:cNvSpPr/>
          <p:nvPr/>
        </p:nvSpPr>
        <p:spPr>
          <a:xfrm>
            <a:off x="1006764" y="2881745"/>
            <a:ext cx="4187969" cy="7481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FC74AB83-E39A-EF30-1593-2935F6B674FD}"/>
              </a:ext>
            </a:extLst>
          </p:cNvPr>
          <p:cNvCxnSpPr/>
          <p:nvPr/>
        </p:nvCxnSpPr>
        <p:spPr>
          <a:xfrm flipH="1">
            <a:off x="5310909" y="2558473"/>
            <a:ext cx="1071418" cy="4895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D2340FF-F410-5C0C-8040-7BEC6D2E3F94}"/>
              </a:ext>
            </a:extLst>
          </p:cNvPr>
          <p:cNvSpPr txBox="1"/>
          <p:nvPr/>
        </p:nvSpPr>
        <p:spPr>
          <a:xfrm>
            <a:off x="6493164" y="1911927"/>
            <a:ext cx="330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각 노드의 </a:t>
            </a:r>
            <a:r>
              <a:rPr lang="ko-KR" altLang="en-US" b="1" dirty="0" err="1">
                <a:solidFill>
                  <a:schemeClr val="accent1"/>
                </a:solidFill>
              </a:rPr>
              <a:t>이웃중</a:t>
            </a:r>
            <a:r>
              <a:rPr lang="ko-KR" altLang="en-US" b="1" dirty="0">
                <a:solidFill>
                  <a:schemeClr val="accent1"/>
                </a:solidFill>
              </a:rPr>
              <a:t> 랜덤하게 </a:t>
            </a:r>
            <a:r>
              <a:rPr lang="ko-KR" altLang="en-US" b="1" dirty="0" err="1">
                <a:solidFill>
                  <a:schemeClr val="accent1"/>
                </a:solidFill>
              </a:rPr>
              <a:t>한명을</a:t>
            </a:r>
            <a:r>
              <a:rPr lang="ko-KR" altLang="en-US" b="1" dirty="0">
                <a:solidFill>
                  <a:schemeClr val="accent1"/>
                </a:solidFill>
              </a:rPr>
              <a:t> 골라 </a:t>
            </a:r>
            <a:r>
              <a:rPr lang="en-US" altLang="ko-KR" b="1" dirty="0" err="1">
                <a:solidFill>
                  <a:schemeClr val="accent1"/>
                </a:solidFill>
              </a:rPr>
              <a:t>opinion_change_prob</a:t>
            </a:r>
            <a:r>
              <a:rPr lang="en-US" altLang="ko-KR" b="1" dirty="0">
                <a:solidFill>
                  <a:schemeClr val="accent1"/>
                </a:solidFill>
              </a:rPr>
              <a:t> </a:t>
            </a:r>
            <a:r>
              <a:rPr lang="ko-KR" altLang="en-US" b="1" dirty="0">
                <a:solidFill>
                  <a:schemeClr val="accent1"/>
                </a:solidFill>
              </a:rPr>
              <a:t>확률로 이웃의 의견을 자신의 의견으로 바꾼다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010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DC904-050D-8EFC-E9AB-96321407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CE7789-4A64-83E5-BE37-291FB27EC48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996290-454F-6E54-6134-8B8C7EEB1FD6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DB4F8-EB1B-C0FB-68D1-2BA8A1B4C012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5140BC2-59FF-74FD-99D7-A70B478BFCE9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F053D50-24A2-7280-959C-A7D6119EE6B9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6FC56-F34C-9C50-EE4A-C1B3140DB094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voter model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6C4B701-6195-DF5F-FEEF-61C047F2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18" y="2110356"/>
            <a:ext cx="4710662" cy="35375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C943A8-4ED6-876C-51C1-3CD0EDB58757}"/>
              </a:ext>
            </a:extLst>
          </p:cNvPr>
          <p:cNvSpPr/>
          <p:nvPr/>
        </p:nvSpPr>
        <p:spPr>
          <a:xfrm>
            <a:off x="846814" y="4809279"/>
            <a:ext cx="4187969" cy="6494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B0E9CA1-E94F-8EAA-6011-563836A4E6A2}"/>
              </a:ext>
            </a:extLst>
          </p:cNvPr>
          <p:cNvCxnSpPr/>
          <p:nvPr/>
        </p:nvCxnSpPr>
        <p:spPr>
          <a:xfrm flipH="1">
            <a:off x="5194733" y="4435443"/>
            <a:ext cx="1071418" cy="4895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7D06018-91FC-20D8-1ABB-292BD99F369D}"/>
              </a:ext>
            </a:extLst>
          </p:cNvPr>
          <p:cNvSpPr txBox="1"/>
          <p:nvPr/>
        </p:nvSpPr>
        <p:spPr>
          <a:xfrm>
            <a:off x="6426101" y="4250777"/>
            <a:ext cx="414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모두의 의견이 </a:t>
            </a:r>
            <a:r>
              <a:rPr lang="en-US" altLang="ko-KR" b="1" dirty="0">
                <a:solidFill>
                  <a:schemeClr val="accent1"/>
                </a:solidFill>
              </a:rPr>
              <a:t>0</a:t>
            </a:r>
            <a:r>
              <a:rPr lang="ko-KR" altLang="en-US" b="1" dirty="0">
                <a:solidFill>
                  <a:schemeClr val="accent1"/>
                </a:solidFill>
              </a:rPr>
              <a:t> 이거나 </a:t>
            </a:r>
            <a:r>
              <a:rPr lang="en-US" altLang="ko-KR" b="1" dirty="0">
                <a:solidFill>
                  <a:schemeClr val="accent1"/>
                </a:solidFill>
              </a:rPr>
              <a:t>1</a:t>
            </a:r>
            <a:r>
              <a:rPr lang="ko-KR" altLang="en-US" b="1" dirty="0">
                <a:solidFill>
                  <a:schemeClr val="accent1"/>
                </a:solidFill>
              </a:rPr>
              <a:t>이면 종료</a:t>
            </a:r>
          </a:p>
        </p:txBody>
      </p:sp>
    </p:spTree>
    <p:extLst>
      <p:ext uri="{BB962C8B-B14F-4D97-AF65-F5344CB8AC3E}">
        <p14:creationId xmlns:p14="http://schemas.microsoft.com/office/powerpoint/2010/main" val="3442790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2B8A-7AAE-6A54-12D2-52E08170B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AD8CFFA-6F2D-C1D6-FBCD-8F1F6B9599F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CECB81-49AE-BBBC-6A15-B69E3BB031AD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5E0BE-6D3E-A7C7-0E14-7DCA467D0FE2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364C6F1-EA39-5845-32F8-6662066CFD6A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BF1F7B0-9CA3-5235-107B-EFAE217BE76C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82A8B-40F6-7B74-664A-A31854BC0705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voter model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BBBE7F9-4486-9C1F-2BC6-6408763F1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2" y="1999991"/>
            <a:ext cx="4057173" cy="389280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7237B40-4FAC-59D2-4DE4-94A17F52A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03" y="1957758"/>
            <a:ext cx="3701193" cy="39772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B008E1-B0D5-4B94-44E2-3EFC50EB5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595" y="1999992"/>
            <a:ext cx="3701193" cy="396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4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C977-C0CA-376F-C0C3-5E850D95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4185728-A4C7-F53D-2D58-F954EA566C0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C1933D-AFBA-EA6D-7BA3-D84A2C1E22A0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E5A2C-970D-5BAD-9CE4-35F6D193C28F}"/>
              </a:ext>
            </a:extLst>
          </p:cNvPr>
          <p:cNvSpPr txBox="1"/>
          <p:nvPr/>
        </p:nvSpPr>
        <p:spPr>
          <a:xfrm>
            <a:off x="1163052" y="272716"/>
            <a:ext cx="403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네트워크에서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Voter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CD0D341-E6FE-BEE1-F03C-C378FFE52099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3AF841A-4B91-A250-6B34-FFDA498AF79A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35D03-5AAC-0836-B4C1-84E8AF6FAE92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voter model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F8822A-1198-43DB-6751-EDD592AD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13" y="1827049"/>
            <a:ext cx="6373853" cy="437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40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4BB3B-9132-E8A3-71AE-B954C651B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5CBACE4-38E6-2818-84A2-EDEBCF6842AD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C71218E-6DC2-7676-A53C-6BB1CF9978D5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1126C74-4DDF-916A-B482-5CFB343758D6}"/>
                </a:ext>
              </a:extLst>
            </p:cNvPr>
            <p:cNvSpPr txBox="1"/>
            <p:nvPr/>
          </p:nvSpPr>
          <p:spPr>
            <a:xfrm>
              <a:off x="6817895" y="3350782"/>
              <a:ext cx="49952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ER</a:t>
              </a:r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 네트워크 </a:t>
              </a:r>
              <a:r>
                <a:rPr lang="ko-KR" altLang="en-US" sz="4800" b="1" spc="-300" dirty="0" err="1">
                  <a:solidFill>
                    <a:schemeClr val="bg1"/>
                  </a:solidFill>
                  <a:latin typeface="+mn-ea"/>
                </a:rPr>
                <a:t>이웃수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EB30317C-96D6-D577-23CF-ED675DABF0CA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E2D6A398-66B4-BCD7-456B-401E1BBAF348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2A0506-7E03-A30C-47DA-BC58A8474D40}"/>
              </a:ext>
            </a:extLst>
          </p:cNvPr>
          <p:cNvSpPr/>
          <p:nvPr/>
        </p:nvSpPr>
        <p:spPr>
          <a:xfrm>
            <a:off x="9873673" y="6197600"/>
            <a:ext cx="2318327" cy="6603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64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7542-469C-4614-780A-F958520A8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90BE5C-0454-46FD-02E0-7A1DD2BAE92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36A1B4F-9CD5-7702-9C74-75B0C33A316D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EF71D-3F84-4E97-61C7-FA1C143D3012}"/>
              </a:ext>
            </a:extLst>
          </p:cNvPr>
          <p:cNvSpPr txBox="1"/>
          <p:nvPr/>
        </p:nvSpPr>
        <p:spPr>
          <a:xfrm>
            <a:off x="1163052" y="272716"/>
            <a:ext cx="3542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spc="-300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분포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B005FB8-7D64-E73D-AE8E-82F6D64BED9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A1888AC-D37D-6315-4B57-1746032B58BD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A2836B-E8BC-33BA-B309-4B4F366CD2DF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dirty="0">
                <a:solidFill>
                  <a:schemeClr val="accent1"/>
                </a:solidFill>
              </a:rPr>
              <a:t> 분포 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7355F5-6609-F051-7F4A-42CFDB13F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27" y="1842312"/>
            <a:ext cx="3324689" cy="13813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AD6D7CF-42ED-1774-1350-E490B180E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27" y="3223630"/>
            <a:ext cx="5687219" cy="32770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113B061-CEB0-FC79-5230-0779C2CE2FC3}"/>
              </a:ext>
            </a:extLst>
          </p:cNvPr>
          <p:cNvSpPr txBox="1"/>
          <p:nvPr/>
        </p:nvSpPr>
        <p:spPr>
          <a:xfrm>
            <a:off x="6380146" y="4057328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p: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엣지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생성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0946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AA583-C8FF-0B19-6DEE-E1F1063C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60769CD-0842-C932-5F50-8C2CA596C1E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615465-EA3E-E41E-7A99-6DADEEA5775F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677DF-488C-3E01-05A0-19006382D06A}"/>
              </a:ext>
            </a:extLst>
          </p:cNvPr>
          <p:cNvSpPr txBox="1"/>
          <p:nvPr/>
        </p:nvSpPr>
        <p:spPr>
          <a:xfrm>
            <a:off x="1163052" y="272716"/>
            <a:ext cx="3542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spc="-300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분포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419FBB7-9941-C24A-4CB4-9089237ED08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9E2C930-D6C7-6C50-B17E-5F427853514E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985B8-99FE-376A-4A49-36833790F694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dirty="0">
                <a:solidFill>
                  <a:schemeClr val="accent1"/>
                </a:solidFill>
              </a:rPr>
              <a:t> 분포 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C263D77-6237-934E-6510-8E7961523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27" y="1842312"/>
            <a:ext cx="3324689" cy="13813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C434B08-4117-2F70-476B-C967F9F89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27" y="3223630"/>
            <a:ext cx="5687219" cy="327705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6A7CA3E-36A5-2854-BB18-20684AAD8D4A}"/>
              </a:ext>
            </a:extLst>
          </p:cNvPr>
          <p:cNvSpPr/>
          <p:nvPr/>
        </p:nvSpPr>
        <p:spPr>
          <a:xfrm>
            <a:off x="819948" y="3870036"/>
            <a:ext cx="3742816" cy="734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4140D0C-3E06-9C5E-8BDA-203D318A70CE}"/>
              </a:ext>
            </a:extLst>
          </p:cNvPr>
          <p:cNvCxnSpPr/>
          <p:nvPr/>
        </p:nvCxnSpPr>
        <p:spPr>
          <a:xfrm flipH="1">
            <a:off x="4706010" y="3685309"/>
            <a:ext cx="1057481" cy="434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35B5FA-7D6F-99F9-019D-8227F84FE099}"/>
              </a:ext>
            </a:extLst>
          </p:cNvPr>
          <p:cNvSpPr txBox="1"/>
          <p:nvPr/>
        </p:nvSpPr>
        <p:spPr>
          <a:xfrm>
            <a:off x="5615708" y="3315977"/>
            <a:ext cx="320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각 노드마다 차수 저장 </a:t>
            </a:r>
          </a:p>
        </p:txBody>
      </p:sp>
    </p:spTree>
    <p:extLst>
      <p:ext uri="{BB962C8B-B14F-4D97-AF65-F5344CB8AC3E}">
        <p14:creationId xmlns:p14="http://schemas.microsoft.com/office/powerpoint/2010/main" val="567486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D68E-397D-D0E1-F43C-D3D909CD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A77B9D4-1847-506C-B69B-14384F0C796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DC0741-4F2A-94E7-DE5A-40D21AE72708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4D87D-EEF7-8ABC-C9EE-5279E4901334}"/>
              </a:ext>
            </a:extLst>
          </p:cNvPr>
          <p:cNvSpPr txBox="1"/>
          <p:nvPr/>
        </p:nvSpPr>
        <p:spPr>
          <a:xfrm>
            <a:off x="1163052" y="272716"/>
            <a:ext cx="3542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spc="-300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분포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9B12CC3-4322-0FB9-EF08-24C0F39B88F4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A992146-66C3-D74A-31D2-B30C3CD8B763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66F6B-13EB-9BEE-6465-EDC9B377196E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dirty="0">
                <a:solidFill>
                  <a:schemeClr val="accent1"/>
                </a:solidFill>
              </a:rPr>
              <a:t> 분포 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1DC94A-FB0A-247E-4096-D43C734DC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27" y="1842312"/>
            <a:ext cx="3324689" cy="13813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1FBF472-AD2D-57BB-BE99-A8622DC70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27" y="3223630"/>
            <a:ext cx="5687219" cy="327705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3A6D007-0CAC-BAF1-A17C-CAEE1006F4BC}"/>
              </a:ext>
            </a:extLst>
          </p:cNvPr>
          <p:cNvSpPr/>
          <p:nvPr/>
        </p:nvSpPr>
        <p:spPr>
          <a:xfrm>
            <a:off x="819948" y="4732504"/>
            <a:ext cx="3742816" cy="734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43D39BF-3A15-BD86-E6AD-455F5DC0BAE3}"/>
              </a:ext>
            </a:extLst>
          </p:cNvPr>
          <p:cNvCxnSpPr/>
          <p:nvPr/>
        </p:nvCxnSpPr>
        <p:spPr>
          <a:xfrm flipH="1">
            <a:off x="4787960" y="4397192"/>
            <a:ext cx="1057481" cy="434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BA5156-AB2E-11AB-7491-C6ACA70CC723}"/>
              </a:ext>
            </a:extLst>
          </p:cNvPr>
          <p:cNvSpPr txBox="1"/>
          <p:nvPr/>
        </p:nvSpPr>
        <p:spPr>
          <a:xfrm>
            <a:off x="5643417" y="3985630"/>
            <a:ext cx="3934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각 차수의 발생 빈도를 전체 노드 수로 나누어서 </a:t>
            </a:r>
            <a:r>
              <a:rPr lang="ko-KR" altLang="en-US" b="1">
                <a:solidFill>
                  <a:schemeClr val="accent1"/>
                </a:solidFill>
              </a:rPr>
              <a:t>확률로 변환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835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1FF7-B7AC-4C8A-3D8E-C2C769F2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32BE41E-D2B0-05E3-208C-35E17266B7D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2BA845F-E735-33DE-BB96-EA9D7D061523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DCD3E-6F12-12B9-4806-49B13FCC74EC}"/>
              </a:ext>
            </a:extLst>
          </p:cNvPr>
          <p:cNvSpPr txBox="1"/>
          <p:nvPr/>
        </p:nvSpPr>
        <p:spPr>
          <a:xfrm>
            <a:off x="1163052" y="272716"/>
            <a:ext cx="3542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ER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spc="-300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분포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CC064D5-EC40-78C9-8704-40456BE6CA1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9233F9A-0A5A-6936-E4A0-62447B10E38D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ECA28-1F3C-1BE7-C529-FC31B3152AC5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 </a:t>
            </a:r>
            <a:r>
              <a:rPr lang="ko-KR" altLang="en-US" sz="2800" b="1" dirty="0" err="1">
                <a:solidFill>
                  <a:schemeClr val="accent1"/>
                </a:solidFill>
              </a:rPr>
              <a:t>이웃수</a:t>
            </a:r>
            <a:r>
              <a:rPr lang="ko-KR" altLang="en-US" sz="2800" b="1" dirty="0">
                <a:solidFill>
                  <a:schemeClr val="accent1"/>
                </a:solidFill>
              </a:rPr>
              <a:t> 분포 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FF2D2FD-9ED2-F2AC-18FE-DA4D39FBD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10" y="1960703"/>
            <a:ext cx="5646245" cy="407616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FF638EB-E5F6-6A22-4687-1391CC863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703" y="2921653"/>
            <a:ext cx="1811840" cy="6988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0D3C52-3E5C-BB5A-23C3-0E7407667A3D}"/>
              </a:ext>
            </a:extLst>
          </p:cNvPr>
          <p:cNvSpPr txBox="1"/>
          <p:nvPr/>
        </p:nvSpPr>
        <p:spPr>
          <a:xfrm>
            <a:off x="8443549" y="2512199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chemeClr val="accent1"/>
                </a:solidFill>
              </a:rPr>
              <a:t>포아송</a:t>
            </a:r>
            <a:r>
              <a:rPr lang="ko-KR" altLang="en-US" b="1" dirty="0">
                <a:solidFill>
                  <a:schemeClr val="accent1"/>
                </a:solidFill>
              </a:rPr>
              <a:t> 분포</a:t>
            </a:r>
          </a:p>
        </p:txBody>
      </p:sp>
    </p:spTree>
    <p:extLst>
      <p:ext uri="{BB962C8B-B14F-4D97-AF65-F5344CB8AC3E}">
        <p14:creationId xmlns:p14="http://schemas.microsoft.com/office/powerpoint/2010/main" val="812768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344A9-984B-EAC9-7727-1524EE36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F18C7DD-4ECD-3C71-C3E4-98624B8671CA}"/>
              </a:ext>
            </a:extLst>
          </p:cNvPr>
          <p:cNvGrpSpPr/>
          <p:nvPr/>
        </p:nvGrpSpPr>
        <p:grpSpPr>
          <a:xfrm>
            <a:off x="6817895" y="872277"/>
            <a:ext cx="5447004" cy="4483771"/>
            <a:chOff x="6817895" y="310803"/>
            <a:chExt cx="5447004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BE6FAEF-E106-8980-8B8C-35C19DB670D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A6F0369-2FB4-4662-D78E-54ABBA93B385}"/>
                </a:ext>
              </a:extLst>
            </p:cNvPr>
            <p:cNvSpPr txBox="1"/>
            <p:nvPr/>
          </p:nvSpPr>
          <p:spPr>
            <a:xfrm>
              <a:off x="6817895" y="3350782"/>
              <a:ext cx="54470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Mean geodesic distance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269174F5-A159-0850-1F83-A4E2C2080C33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B3A62A1-35E2-4FD3-92CA-1AFDC0A3858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BF290C-1D1B-C5D5-7BBA-28F8828DD135}"/>
              </a:ext>
            </a:extLst>
          </p:cNvPr>
          <p:cNvSpPr/>
          <p:nvPr/>
        </p:nvSpPr>
        <p:spPr>
          <a:xfrm>
            <a:off x="9873673" y="6197600"/>
            <a:ext cx="2318327" cy="6603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21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EF8C-0B45-24FE-C666-889A2025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9596ABD-7025-2C35-4A83-02A00DDC2D9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BBEE130-7671-B376-78F2-2FADB4789177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8AC78-BB13-BB8D-AD69-117EB141EB06}"/>
              </a:ext>
            </a:extLst>
          </p:cNvPr>
          <p:cNvSpPr txBox="1"/>
          <p:nvPr/>
        </p:nvSpPr>
        <p:spPr>
          <a:xfrm>
            <a:off x="1163052" y="272716"/>
            <a:ext cx="292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BD1AF1B-3F8A-6FF6-01AB-2B23F86DC33A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1A7015D-A093-35BE-68D9-7D3CA449FC57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5B5724-5892-60C9-61C5-676CEC376AF1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 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9986F28-3EE3-5632-9F61-917D65272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49" y="2445009"/>
            <a:ext cx="6955023" cy="24589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8A2F95-77A7-E8F7-A43D-80465CBD95BC}"/>
              </a:ext>
            </a:extLst>
          </p:cNvPr>
          <p:cNvSpPr txBox="1"/>
          <p:nvPr/>
        </p:nvSpPr>
        <p:spPr>
          <a:xfrm>
            <a:off x="611149" y="5183352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p: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엣지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생성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967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5835-FD60-664A-2966-EEBD9793E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C8E4B1D-3828-04AA-F78E-B975118CEE9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9A48100-B621-DE8D-3CE7-92BC1D0905B2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CB2D4-ED10-96EF-24C9-5F6F4F45EFB7}"/>
              </a:ext>
            </a:extLst>
          </p:cNvPr>
          <p:cNvSpPr txBox="1"/>
          <p:nvPr/>
        </p:nvSpPr>
        <p:spPr>
          <a:xfrm>
            <a:off x="1163052" y="272716"/>
            <a:ext cx="292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A98B173-F3B4-D786-5F43-CA4E6BB16A3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2876355-C431-AC0F-6E1B-EEF347093C9C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BED7B2-50B2-BEB3-72D4-6A85E550E734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 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382D068-6B8D-4F37-765C-AFA0B108A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49" y="2445009"/>
            <a:ext cx="6955023" cy="24589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031937-A732-8047-CA9A-BAE51E695A81}"/>
              </a:ext>
            </a:extLst>
          </p:cNvPr>
          <p:cNvSpPr txBox="1"/>
          <p:nvPr/>
        </p:nvSpPr>
        <p:spPr>
          <a:xfrm>
            <a:off x="611149" y="5183352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p: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엣지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생성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6EF05D5-1D63-6CC2-8CAB-533FC14F79F2}"/>
              </a:ext>
            </a:extLst>
          </p:cNvPr>
          <p:cNvCxnSpPr/>
          <p:nvPr/>
        </p:nvCxnSpPr>
        <p:spPr>
          <a:xfrm flipH="1">
            <a:off x="3916218" y="2235200"/>
            <a:ext cx="1200764" cy="8405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EB7693-1ABF-1D3E-858D-8A895759627F}"/>
              </a:ext>
            </a:extLst>
          </p:cNvPr>
          <p:cNvSpPr txBox="1"/>
          <p:nvPr/>
        </p:nvSpPr>
        <p:spPr>
          <a:xfrm>
            <a:off x="5187808" y="1713202"/>
            <a:ext cx="47567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그래프의 모든 노드 쌍 간 최단 경로 계산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출력 결과 </a:t>
            </a:r>
            <a:r>
              <a:rPr lang="en-US" altLang="ko-KR" b="1" dirty="0"/>
              <a:t>:</a:t>
            </a:r>
          </a:p>
          <a:p>
            <a:endParaRPr lang="en-US" altLang="ko-KR" b="1" dirty="0"/>
          </a:p>
          <a:p>
            <a:r>
              <a:rPr lang="en-US" altLang="ko-KR" b="1" dirty="0"/>
              <a:t>[(node1 , dict1) , (node2 , dict2),…]</a:t>
            </a:r>
          </a:p>
          <a:p>
            <a:endParaRPr lang="en-US" altLang="ko-KR" b="1" dirty="0"/>
          </a:p>
          <a:p>
            <a:r>
              <a:rPr lang="ko-KR" altLang="en-US" b="1" dirty="0" err="1"/>
              <a:t>튜플의</a:t>
            </a:r>
            <a:r>
              <a:rPr lang="ko-KR" altLang="en-US" b="1" dirty="0"/>
              <a:t> 첫번째 요소</a:t>
            </a:r>
            <a:r>
              <a:rPr lang="en-US" altLang="ko-KR" b="1" dirty="0"/>
              <a:t>(node 1,..)</a:t>
            </a:r>
            <a:r>
              <a:rPr lang="ko-KR" altLang="en-US" b="1" dirty="0"/>
              <a:t>는 시작 노드</a:t>
            </a:r>
            <a:endParaRPr lang="en-US" altLang="ko-KR" b="1" dirty="0"/>
          </a:p>
          <a:p>
            <a:r>
              <a:rPr lang="ko-KR" altLang="en-US" b="1" dirty="0" err="1"/>
              <a:t>튜플의</a:t>
            </a:r>
            <a:r>
              <a:rPr lang="ko-KR" altLang="en-US" b="1" dirty="0"/>
              <a:t> 두번째 요소</a:t>
            </a:r>
            <a:r>
              <a:rPr lang="en-US" altLang="ko-KR" b="1" dirty="0"/>
              <a:t>(dict1,…)</a:t>
            </a:r>
            <a:r>
              <a:rPr lang="ko-KR" altLang="en-US" b="1" dirty="0"/>
              <a:t>는 </a:t>
            </a:r>
            <a:r>
              <a:rPr lang="ko-KR" altLang="en-US" b="1" dirty="0" err="1"/>
              <a:t>시작노드에서</a:t>
            </a:r>
            <a:r>
              <a:rPr lang="ko-KR" altLang="en-US" b="1" dirty="0"/>
              <a:t> 다른 모든 노드까지 최단 경로 길이를 담은 </a:t>
            </a:r>
            <a:r>
              <a:rPr lang="ko-KR" altLang="en-US" b="1" dirty="0" err="1"/>
              <a:t>딕셔너리다</a:t>
            </a:r>
            <a:r>
              <a:rPr lang="ko-KR" altLang="en-US" b="1" dirty="0"/>
              <a:t> </a:t>
            </a:r>
            <a:endParaRPr lang="en-US" altLang="ko-KR" b="1" dirty="0"/>
          </a:p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65772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B9F7E-59B1-EFBA-D72D-0A7BE646B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FD9C5C2-AB09-ECCA-9B25-33FA64695FC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04626F2-8A17-FFAA-5F6D-E87047361566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EB146-13C1-2B3D-79DD-533B5B7393BF}"/>
              </a:ext>
            </a:extLst>
          </p:cNvPr>
          <p:cNvSpPr txBox="1"/>
          <p:nvPr/>
        </p:nvSpPr>
        <p:spPr>
          <a:xfrm>
            <a:off x="1163052" y="272716"/>
            <a:ext cx="292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07C5AA9-BDDF-E311-EAD8-FAD3665299B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BC7F0BE-CBA6-2C9F-E35F-05A280FCADCA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D93C2-6D6E-7E1D-B44F-490D18C2E36B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 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BC4BA3-26E4-590F-7378-C778DA811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49" y="2445009"/>
            <a:ext cx="6955023" cy="24589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4A1511-431D-2CD3-4237-A338CE35DB5E}"/>
              </a:ext>
            </a:extLst>
          </p:cNvPr>
          <p:cNvSpPr txBox="1"/>
          <p:nvPr/>
        </p:nvSpPr>
        <p:spPr>
          <a:xfrm>
            <a:off x="611149" y="5183352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p: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엣지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생성 확률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1806534-26C0-B62E-21D5-434B6BBDABC2}"/>
              </a:ext>
            </a:extLst>
          </p:cNvPr>
          <p:cNvCxnSpPr/>
          <p:nvPr/>
        </p:nvCxnSpPr>
        <p:spPr>
          <a:xfrm flipH="1">
            <a:off x="5181602" y="2833968"/>
            <a:ext cx="1200764" cy="8405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BD337B-9A4F-FAAE-81ED-779DC73AF51E}"/>
              </a:ext>
            </a:extLst>
          </p:cNvPr>
          <p:cNvSpPr txBox="1"/>
          <p:nvPr/>
        </p:nvSpPr>
        <p:spPr>
          <a:xfrm>
            <a:off x="6308436" y="2376537"/>
            <a:ext cx="4756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평균 최단 경로 길이를 계산한다</a:t>
            </a:r>
            <a:r>
              <a:rPr lang="en-US" altLang="ko-KR" b="1" dirty="0"/>
              <a:t>.  </a:t>
            </a:r>
          </a:p>
          <a:p>
            <a:r>
              <a:rPr lang="en-US" altLang="ko-KR" b="1" dirty="0"/>
              <a:t>N(N-1)</a:t>
            </a:r>
            <a:r>
              <a:rPr lang="ko-KR" altLang="en-US" b="1" dirty="0"/>
              <a:t>은 가능한 모든 노드 쌍 수이다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E94DAE-3CFF-3CE7-746F-629BCC6FE4C3}"/>
              </a:ext>
            </a:extLst>
          </p:cNvPr>
          <p:cNvSpPr/>
          <p:nvPr/>
        </p:nvSpPr>
        <p:spPr>
          <a:xfrm>
            <a:off x="886691" y="3429000"/>
            <a:ext cx="4230291" cy="930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289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D7FB-BE29-F796-8B60-716E76BC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739DA79-37DF-AAB6-DEA1-2F37FEE8D31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091811-B69C-154B-8564-F26EC5715117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3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ACC97-E9B5-F729-C811-DF27FE22A721}"/>
              </a:ext>
            </a:extLst>
          </p:cNvPr>
          <p:cNvSpPr txBox="1"/>
          <p:nvPr/>
        </p:nvSpPr>
        <p:spPr>
          <a:xfrm>
            <a:off x="1163052" y="272716"/>
            <a:ext cx="292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2595B45-B45F-FAF3-46F5-C8A4CC8A77C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AB4AE8-8527-595C-7621-7DC6D1513469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22566-66E0-43AC-DF66-98E08BD25E94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mean  geodesic distance 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A778C5-97A3-CA3C-6104-9EF65E803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76" y="1935138"/>
            <a:ext cx="7544853" cy="458216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EB1EE40-AF3B-D198-61EE-25E324DB4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29" y="3192174"/>
            <a:ext cx="312463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14B80-CF5F-9754-9A79-84142395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41483838-574B-6746-5BAE-493900D1E458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326E978-BC00-73D7-D9F6-D508ADE0505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9B1C3EA-137E-A740-D09B-0209A7226374}"/>
                </a:ext>
              </a:extLst>
            </p:cNvPr>
            <p:cNvSpPr txBox="1"/>
            <p:nvPr/>
          </p:nvSpPr>
          <p:spPr>
            <a:xfrm>
              <a:off x="6817895" y="3350782"/>
              <a:ext cx="40559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Giant component</a:t>
              </a:r>
              <a:endParaRPr lang="ko-KR" altLang="en-US" sz="4800" b="1" spc="-300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94F29B00-C3BC-3B5C-F905-4968939DA158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FBC8506-ABC2-F71A-8DF0-BFC6660EB8D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AB5DD8-1208-6DC7-B49F-AA0CD6E44151}"/>
              </a:ext>
            </a:extLst>
          </p:cNvPr>
          <p:cNvSpPr/>
          <p:nvPr/>
        </p:nvSpPr>
        <p:spPr>
          <a:xfrm>
            <a:off x="9873673" y="6197600"/>
            <a:ext cx="2318327" cy="6603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349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EE56-07C1-543C-C91D-29443FD5A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5D6F66-A1E1-FD5F-604A-47D93765548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1AB12FE-20C3-F8B1-8863-B27C016E48F9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CD4F8-7381-1A26-AE62-495033844632}"/>
              </a:ext>
            </a:extLst>
          </p:cNvPr>
          <p:cNvSpPr txBox="1"/>
          <p:nvPr/>
        </p:nvSpPr>
        <p:spPr>
          <a:xfrm>
            <a:off x="1163052" y="272716"/>
            <a:ext cx="2051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Giant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componet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81AE77F-704F-B9AE-1397-D3E6A6EEACEE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84BEB7-D701-B366-350D-16771F71AA0A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6DAF1-B5A3-8807-6D61-18946B1C0062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</a:t>
            </a:r>
            <a:r>
              <a:rPr lang="en-US" altLang="ko-KR" sz="2800" b="1" dirty="0">
                <a:solidFill>
                  <a:schemeClr val="accent1"/>
                </a:solidFill>
              </a:rPr>
              <a:t> giant </a:t>
            </a:r>
            <a:r>
              <a:rPr lang="en-US" altLang="ko-KR" sz="2800" b="1" dirty="0" err="1">
                <a:solidFill>
                  <a:schemeClr val="accent1"/>
                </a:solidFill>
              </a:rPr>
              <a:t>componet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DB5F69-3EB6-CB1B-5BC5-C3BCA9FC5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125" y="2177185"/>
            <a:ext cx="2653624" cy="18410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49D99C-466B-9EDE-1A1B-7B38B0B77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63" y="1714756"/>
            <a:ext cx="4615162" cy="3906376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E83588A-9808-3777-50EA-E7FADBC6D0F0}"/>
              </a:ext>
            </a:extLst>
          </p:cNvPr>
          <p:cNvCxnSpPr/>
          <p:nvPr/>
        </p:nvCxnSpPr>
        <p:spPr>
          <a:xfrm flipH="1">
            <a:off x="8195646" y="2895843"/>
            <a:ext cx="6188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095E653-058F-A0AB-1A06-8B277A86AB84}"/>
              </a:ext>
            </a:extLst>
          </p:cNvPr>
          <p:cNvSpPr txBox="1"/>
          <p:nvPr/>
        </p:nvSpPr>
        <p:spPr>
          <a:xfrm>
            <a:off x="8814482" y="2572678"/>
            <a:ext cx="3112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Componet</a:t>
            </a:r>
            <a:r>
              <a:rPr lang="en-US" altLang="ko-KR" dirty="0"/>
              <a:t> </a:t>
            </a:r>
            <a:r>
              <a:rPr lang="ko-KR" altLang="en-US" dirty="0"/>
              <a:t>크기를 계산하기 위해 </a:t>
            </a:r>
            <a:r>
              <a:rPr lang="en-US" altLang="ko-KR" dirty="0"/>
              <a:t>DFS </a:t>
            </a:r>
            <a:r>
              <a:rPr lang="ko-KR" altLang="en-US" dirty="0"/>
              <a:t>사용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ED9B43-F241-4869-C3CA-4DC2531028CE}"/>
              </a:ext>
            </a:extLst>
          </p:cNvPr>
          <p:cNvSpPr txBox="1"/>
          <p:nvPr/>
        </p:nvSpPr>
        <p:spPr>
          <a:xfrm>
            <a:off x="701963" y="5609189"/>
            <a:ext cx="6123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p_max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최대 확률</a:t>
            </a:r>
            <a:endParaRPr lang="en-US" altLang="ko-KR" b="1" dirty="0">
              <a:solidFill>
                <a:schemeClr val="accent1"/>
              </a:solidFill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</a:t>
            </a: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_step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확률 증가 단계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2379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882D-1EAC-49F4-69D4-714F10ED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8ACD2CC-B8D3-3119-2F9B-50CBED53E45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538A5F-0D8F-A733-0D71-E5FC0E778AC9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E4A48-A72A-77E7-AA29-0EBAF9CE7856}"/>
              </a:ext>
            </a:extLst>
          </p:cNvPr>
          <p:cNvSpPr txBox="1"/>
          <p:nvPr/>
        </p:nvSpPr>
        <p:spPr>
          <a:xfrm>
            <a:off x="1163052" y="272716"/>
            <a:ext cx="2051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Giant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componet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CD9D025-5C4D-6C99-C46D-2E2219ABB3D7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8C1D579-C094-D178-AB96-02109B2ABC16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EFF7D-DD20-82AA-9092-25BB8DF0F6AE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</a:t>
            </a:r>
            <a:r>
              <a:rPr lang="en-US" altLang="ko-KR" sz="2800" b="1" dirty="0">
                <a:solidFill>
                  <a:schemeClr val="accent1"/>
                </a:solidFill>
              </a:rPr>
              <a:t> giant </a:t>
            </a:r>
            <a:r>
              <a:rPr lang="en-US" altLang="ko-KR" sz="2800" b="1" dirty="0" err="1">
                <a:solidFill>
                  <a:schemeClr val="accent1"/>
                </a:solidFill>
              </a:rPr>
              <a:t>componet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361870B-A4A8-BB9A-4321-FD88FA532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3" y="1714756"/>
            <a:ext cx="4615162" cy="39063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94EF29-651E-BD66-3994-66625F8F6174}"/>
              </a:ext>
            </a:extLst>
          </p:cNvPr>
          <p:cNvSpPr txBox="1"/>
          <p:nvPr/>
        </p:nvSpPr>
        <p:spPr>
          <a:xfrm>
            <a:off x="701963" y="5609189"/>
            <a:ext cx="6123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p_max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최대 확률</a:t>
            </a:r>
            <a:endParaRPr lang="en-US" altLang="ko-KR" b="1" dirty="0">
              <a:solidFill>
                <a:schemeClr val="accent1"/>
              </a:solidFill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</a:t>
            </a: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_step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확률 증가 단계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0BAE59-9241-52BB-D9FF-D1B607CAEDAD}"/>
              </a:ext>
            </a:extLst>
          </p:cNvPr>
          <p:cNvSpPr/>
          <p:nvPr/>
        </p:nvSpPr>
        <p:spPr>
          <a:xfrm>
            <a:off x="1163052" y="2817091"/>
            <a:ext cx="2688512" cy="720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28CCE3F-C462-CC97-FED3-B2723763572F}"/>
              </a:ext>
            </a:extLst>
          </p:cNvPr>
          <p:cNvCxnSpPr/>
          <p:nvPr/>
        </p:nvCxnSpPr>
        <p:spPr>
          <a:xfrm flipH="1">
            <a:off x="3962400" y="2558473"/>
            <a:ext cx="1551709" cy="434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A53E214-D80F-E21C-37DE-5518F9CA5C82}"/>
              </a:ext>
            </a:extLst>
          </p:cNvPr>
          <p:cNvSpPr txBox="1"/>
          <p:nvPr/>
        </p:nvSpPr>
        <p:spPr>
          <a:xfrm>
            <a:off x="5578764" y="2225964"/>
            <a:ext cx="545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각 노드의 이웃 노드 리스트를 </a:t>
            </a:r>
            <a:r>
              <a:rPr lang="ko-KR" altLang="en-US" b="1" dirty="0" err="1">
                <a:solidFill>
                  <a:schemeClr val="accent1"/>
                </a:solidFill>
              </a:rPr>
              <a:t>딕셔너리로</a:t>
            </a:r>
            <a:r>
              <a:rPr lang="ko-KR" altLang="en-US" b="1" dirty="0">
                <a:solidFill>
                  <a:schemeClr val="accent1"/>
                </a:solidFill>
              </a:rPr>
              <a:t> 만든다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451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91F9-5F0C-011E-61A5-49E0E2A7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28D956C-9409-1B34-3102-06E3C808217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AA43386-651F-A97B-1597-AEA03D922439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35F13-2C45-72BA-6654-075ED3ED60E1}"/>
              </a:ext>
            </a:extLst>
          </p:cNvPr>
          <p:cNvSpPr txBox="1"/>
          <p:nvPr/>
        </p:nvSpPr>
        <p:spPr>
          <a:xfrm>
            <a:off x="1163052" y="272716"/>
            <a:ext cx="2051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Giant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componet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E928B7-9DAE-8C9B-6ACB-285637E5345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3315EB0-C3E0-4724-C21E-2EC22675B510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CD7C7-3C76-0D72-19BC-E5F3478F20E1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</a:t>
            </a:r>
            <a:r>
              <a:rPr lang="en-US" altLang="ko-KR" sz="2800" b="1" dirty="0">
                <a:solidFill>
                  <a:schemeClr val="accent1"/>
                </a:solidFill>
              </a:rPr>
              <a:t> giant </a:t>
            </a:r>
            <a:r>
              <a:rPr lang="en-US" altLang="ko-KR" sz="2800" b="1" dirty="0" err="1">
                <a:solidFill>
                  <a:schemeClr val="accent1"/>
                </a:solidFill>
              </a:rPr>
              <a:t>componet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B7AAFC4-80DF-CB4C-2D58-0FDDF4A9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3" y="1714756"/>
            <a:ext cx="4615162" cy="39063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C8A0E3-8636-BFC6-203E-8EBCE208D187}"/>
              </a:ext>
            </a:extLst>
          </p:cNvPr>
          <p:cNvSpPr txBox="1"/>
          <p:nvPr/>
        </p:nvSpPr>
        <p:spPr>
          <a:xfrm>
            <a:off x="701963" y="5609189"/>
            <a:ext cx="6123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p_max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최대 확률</a:t>
            </a:r>
            <a:endParaRPr lang="en-US" altLang="ko-KR" b="1" dirty="0">
              <a:solidFill>
                <a:schemeClr val="accent1"/>
              </a:solidFill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</a:t>
            </a: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_step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확률 증가 단계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A9C204-E963-3EB2-891E-9C8551B589E0}"/>
              </a:ext>
            </a:extLst>
          </p:cNvPr>
          <p:cNvSpPr/>
          <p:nvPr/>
        </p:nvSpPr>
        <p:spPr>
          <a:xfrm>
            <a:off x="1273888" y="3610926"/>
            <a:ext cx="2171276" cy="1315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AE404E0-4948-9C64-62A0-2ABCD3DD9E4C}"/>
              </a:ext>
            </a:extLst>
          </p:cNvPr>
          <p:cNvCxnSpPr>
            <a:cxnSpLocks/>
          </p:cNvCxnSpPr>
          <p:nvPr/>
        </p:nvCxnSpPr>
        <p:spPr>
          <a:xfrm flipH="1">
            <a:off x="3445164" y="3399755"/>
            <a:ext cx="1385455" cy="3632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EF5161-4634-4AD8-DF45-C24810262171}"/>
              </a:ext>
            </a:extLst>
          </p:cNvPr>
          <p:cNvSpPr txBox="1"/>
          <p:nvPr/>
        </p:nvSpPr>
        <p:spPr>
          <a:xfrm>
            <a:off x="4830619" y="3076590"/>
            <a:ext cx="5450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모든 노드에 대해 </a:t>
            </a:r>
            <a:r>
              <a:rPr lang="en-US" altLang="ko-KR" b="1" dirty="0">
                <a:solidFill>
                  <a:schemeClr val="accent1"/>
                </a:solidFill>
              </a:rPr>
              <a:t>DFS</a:t>
            </a:r>
            <a:r>
              <a:rPr lang="ko-KR" altLang="en-US" b="1" dirty="0">
                <a:solidFill>
                  <a:schemeClr val="accent1"/>
                </a:solidFill>
              </a:rPr>
              <a:t>을 수행하여 연결된 컴포넌트를 찾고 현재 컴포넌트가 이전보다 크면 업데이트</a:t>
            </a:r>
          </a:p>
        </p:txBody>
      </p:sp>
    </p:spTree>
    <p:extLst>
      <p:ext uri="{BB962C8B-B14F-4D97-AF65-F5344CB8AC3E}">
        <p14:creationId xmlns:p14="http://schemas.microsoft.com/office/powerpoint/2010/main" val="437710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4FEA-A2AB-9244-9E84-1D4C57AE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A5B32DF-60C6-892A-05DF-5E931AF21282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10FF68-E8A2-4C66-FC1B-19442D8F8DD3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1B16B7-38BD-54F3-150E-10CAEDB7C192}"/>
              </a:ext>
            </a:extLst>
          </p:cNvPr>
          <p:cNvSpPr txBox="1"/>
          <p:nvPr/>
        </p:nvSpPr>
        <p:spPr>
          <a:xfrm>
            <a:off x="1163052" y="272716"/>
            <a:ext cx="2051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Giant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componet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93C942B-9196-5696-8817-DFC3D155EE58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E7141CD-DC0A-4CD5-8746-C9BD2B3BE489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2464-11D3-86F0-124C-31F949E1D816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</a:t>
            </a:r>
            <a:r>
              <a:rPr lang="en-US" altLang="ko-KR" sz="2800" b="1" dirty="0">
                <a:solidFill>
                  <a:schemeClr val="accent1"/>
                </a:solidFill>
              </a:rPr>
              <a:t> giant </a:t>
            </a:r>
            <a:r>
              <a:rPr lang="en-US" altLang="ko-KR" sz="2800" b="1" dirty="0" err="1">
                <a:solidFill>
                  <a:schemeClr val="accent1"/>
                </a:solidFill>
              </a:rPr>
              <a:t>componet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AA53B1-FDE3-7A34-56F7-2CE1F425A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3" y="1714756"/>
            <a:ext cx="4615162" cy="39063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260B01-D2AE-8541-DAFC-0B85EBA8ED7B}"/>
              </a:ext>
            </a:extLst>
          </p:cNvPr>
          <p:cNvSpPr txBox="1"/>
          <p:nvPr/>
        </p:nvSpPr>
        <p:spPr>
          <a:xfrm>
            <a:off x="701963" y="5609189"/>
            <a:ext cx="6123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n: 노드의 수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p_max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최대 확률</a:t>
            </a:r>
            <a:endParaRPr lang="en-US" altLang="ko-KR" b="1" dirty="0">
              <a:solidFill>
                <a:schemeClr val="accent1"/>
              </a:solidFill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p</a:t>
            </a:r>
            <a:r>
              <a:rPr lang="en-US" altLang="ko-KR" b="1" dirty="0" err="1">
                <a:solidFill>
                  <a:schemeClr val="accent1"/>
                </a:solidFill>
                <a:latin typeface="+mn-ea"/>
              </a:rPr>
              <a:t>_step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 : 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확률 증가 단계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ensemble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:</a:t>
            </a:r>
            <a:r>
              <a:rPr kumimoji="0" lang="en-US" altLang="ko-KR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 </a:t>
            </a:r>
            <a:r>
              <a:rPr kumimoji="0" lang="ko-KR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</a:rPr>
              <a:t>반복 횟수</a:t>
            </a: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ea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6DF2F87-648F-0E16-16A0-89897BB6F54A}"/>
              </a:ext>
            </a:extLst>
          </p:cNvPr>
          <p:cNvCxnSpPr>
            <a:cxnSpLocks/>
          </p:cNvCxnSpPr>
          <p:nvPr/>
        </p:nvCxnSpPr>
        <p:spPr>
          <a:xfrm flipH="1">
            <a:off x="3993215" y="4903111"/>
            <a:ext cx="1385455" cy="3632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4DEEE6-83CC-C36B-3335-65E2E969F99E}"/>
              </a:ext>
            </a:extLst>
          </p:cNvPr>
          <p:cNvSpPr txBox="1"/>
          <p:nvPr/>
        </p:nvSpPr>
        <p:spPr>
          <a:xfrm>
            <a:off x="5512360" y="4496914"/>
            <a:ext cx="5450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평균 최대 컴포넌트 크기를 계산하고 전체 노드 수로 나눠서 정규화 한다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942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540F-01F5-4DB5-B332-0FBE4F47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DEB436-09A0-4BBC-AC0A-6C0088C55D3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22039D9-5937-1217-E93C-91DA1E60703E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9270B-B14B-77D7-C4B1-D0AD2A44A790}"/>
              </a:ext>
            </a:extLst>
          </p:cNvPr>
          <p:cNvSpPr txBox="1"/>
          <p:nvPr/>
        </p:nvSpPr>
        <p:spPr>
          <a:xfrm>
            <a:off x="1163052" y="272716"/>
            <a:ext cx="20510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pc="-300" dirty="0">
                <a:solidFill>
                  <a:schemeClr val="accent1"/>
                </a:solidFill>
              </a:rPr>
              <a:t>Giant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componet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DFEDBD9-A92C-40A0-7301-574F1B7B0EC8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9F3388C-6D06-E72C-1668-CEFB5E1F8721}"/>
              </a:ext>
            </a:extLst>
          </p:cNvPr>
          <p:cNvSpPr/>
          <p:nvPr/>
        </p:nvSpPr>
        <p:spPr>
          <a:xfrm>
            <a:off x="10002982" y="6456218"/>
            <a:ext cx="2124363" cy="2413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86783-29EF-8D1E-BBBC-65179DEAFA62}"/>
              </a:ext>
            </a:extLst>
          </p:cNvPr>
          <p:cNvSpPr txBox="1"/>
          <p:nvPr/>
        </p:nvSpPr>
        <p:spPr>
          <a:xfrm>
            <a:off x="560502" y="1191536"/>
            <a:ext cx="1059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코드</a:t>
            </a:r>
            <a:r>
              <a:rPr lang="en-US" altLang="ko-KR" sz="2800" b="1" dirty="0">
                <a:solidFill>
                  <a:schemeClr val="accent1"/>
                </a:solidFill>
              </a:rPr>
              <a:t>- ER </a:t>
            </a:r>
            <a:r>
              <a:rPr lang="ko-KR" altLang="en-US" sz="2800" b="1" dirty="0">
                <a:solidFill>
                  <a:schemeClr val="accent1"/>
                </a:solidFill>
              </a:rPr>
              <a:t>네트워크의</a:t>
            </a:r>
            <a:r>
              <a:rPr lang="en-US" altLang="ko-KR" sz="2800" b="1" dirty="0">
                <a:solidFill>
                  <a:schemeClr val="accent1"/>
                </a:solidFill>
              </a:rPr>
              <a:t> giant </a:t>
            </a:r>
            <a:r>
              <a:rPr lang="en-US" altLang="ko-KR" sz="2800" b="1" dirty="0" err="1">
                <a:solidFill>
                  <a:schemeClr val="accent1"/>
                </a:solidFill>
              </a:rPr>
              <a:t>componet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B6A9F0D-F648-F9A5-7E65-522BBB41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38" y="2110355"/>
            <a:ext cx="5568171" cy="41563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28592F-38CB-DE2F-B550-B1633F74FF95}"/>
              </a:ext>
            </a:extLst>
          </p:cNvPr>
          <p:cNvSpPr txBox="1"/>
          <p:nvPr/>
        </p:nvSpPr>
        <p:spPr>
          <a:xfrm>
            <a:off x="8377382" y="6102172"/>
            <a:ext cx="1477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0.1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F6A506A-E347-DCF5-A536-BB9B31A40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364" y="1714755"/>
            <a:ext cx="4639184" cy="423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38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64E22-9CE0-E4CC-870D-6999FFD1D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E8E847E-B40E-DA57-A56A-5A8E3E1AF97F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AE540F7-AA84-F168-F2A5-F0F23DEC0C84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692685-5A61-B96C-544C-56CC6B25B496}"/>
                </a:ext>
              </a:extLst>
            </p:cNvPr>
            <p:cNvSpPr txBox="1"/>
            <p:nvPr/>
          </p:nvSpPr>
          <p:spPr>
            <a:xfrm>
              <a:off x="6817895" y="3350782"/>
              <a:ext cx="384913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랜덤 네트워크 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4D4DC227-31BC-311A-B18B-D4C6BB50550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411F28C5-91F3-B215-1950-460DE9091BE7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2329FE-85AC-C006-0426-23D9EDF0286D}"/>
              </a:ext>
            </a:extLst>
          </p:cNvPr>
          <p:cNvSpPr/>
          <p:nvPr/>
        </p:nvSpPr>
        <p:spPr>
          <a:xfrm>
            <a:off x="9993745" y="6446982"/>
            <a:ext cx="2115128" cy="2586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098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A1B2-17ED-6F4B-8251-A87D64B4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5A443F-034F-1034-F131-48A4A99CB4F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A2BDE0-1C38-00D0-8AB3-D5EB64615F66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C10F2-A454-C74A-EF0C-804BCA3B8186}"/>
              </a:ext>
            </a:extLst>
          </p:cNvPr>
          <p:cNvSpPr txBox="1"/>
          <p:nvPr/>
        </p:nvSpPr>
        <p:spPr>
          <a:xfrm>
            <a:off x="1163052" y="272716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ER 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489B340-9044-B355-4973-0FAAB5133D9E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3661FAD-4C32-050F-8C7F-E55A97495F6E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A08B31-B1C7-47CC-656A-61DEBC70354E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5BF310-F64D-C7EC-8B69-C1DCD5E7649A}"/>
              </a:ext>
            </a:extLst>
          </p:cNvPr>
          <p:cNvSpPr txBox="1"/>
          <p:nvPr/>
        </p:nvSpPr>
        <p:spPr>
          <a:xfrm>
            <a:off x="885286" y="1453547"/>
            <a:ext cx="785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ER </a:t>
            </a:r>
            <a:r>
              <a:rPr lang="ko-KR" altLang="en-US" b="1" dirty="0">
                <a:solidFill>
                  <a:schemeClr val="accent1"/>
                </a:solidFill>
              </a:rPr>
              <a:t>네트워크 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두 노드가 확률 </a:t>
            </a:r>
            <a:r>
              <a:rPr lang="en-US" altLang="ko-KR" b="1" dirty="0">
                <a:solidFill>
                  <a:schemeClr val="accent1"/>
                </a:solidFill>
              </a:rPr>
              <a:t>p</a:t>
            </a:r>
            <a:r>
              <a:rPr lang="ko-KR" altLang="en-US" b="1" dirty="0">
                <a:solidFill>
                  <a:schemeClr val="accent1"/>
                </a:solidFill>
              </a:rPr>
              <a:t>로 연결되는 랜덤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B53F9-3BD1-F5D2-0716-A32FD0D3F661}"/>
              </a:ext>
            </a:extLst>
          </p:cNvPr>
          <p:cNvSpPr txBox="1"/>
          <p:nvPr/>
        </p:nvSpPr>
        <p:spPr>
          <a:xfrm>
            <a:off x="885286" y="2366730"/>
            <a:ext cx="61237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생성 방식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>
                <a:solidFill>
                  <a:schemeClr val="accent1"/>
                </a:solidFill>
              </a:rPr>
              <a:t>N </a:t>
            </a:r>
            <a:r>
              <a:rPr lang="ko-KR" altLang="en-US" b="1" dirty="0">
                <a:solidFill>
                  <a:schemeClr val="accent1"/>
                </a:solidFill>
              </a:rPr>
              <a:t>개의 노드 초기화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b="1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chemeClr val="accent1"/>
                </a:solidFill>
              </a:rPr>
              <a:t>각 노드 쌍에 대해 </a:t>
            </a:r>
            <a:r>
              <a:rPr lang="en-US" altLang="ko-KR" b="1" dirty="0">
                <a:solidFill>
                  <a:schemeClr val="accent1"/>
                </a:solidFill>
              </a:rPr>
              <a:t>p</a:t>
            </a:r>
            <a:r>
              <a:rPr lang="ko-KR" altLang="en-US" b="1" dirty="0">
                <a:solidFill>
                  <a:schemeClr val="accent1"/>
                </a:solidFill>
              </a:rPr>
              <a:t>의 확률로 연결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DF05F-C04E-8592-24A1-A4C7387BDA1A}"/>
              </a:ext>
            </a:extLst>
          </p:cNvPr>
          <p:cNvSpPr txBox="1"/>
          <p:nvPr/>
        </p:nvSpPr>
        <p:spPr>
          <a:xfrm>
            <a:off x="885286" y="4481123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특성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1"/>
                </a:solidFill>
              </a:rPr>
              <a:t>대부분의 노드가 비슷한 차수를 가진다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3295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23088-1EF0-C9E3-D332-38C1EFE0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CCBAC07-A563-6837-8D75-6400C43BCF1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2E85FFB-B56C-BB26-E82B-832DE6510FFE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C2F62-AA0F-A8E1-47A7-0F09F4E48833}"/>
              </a:ext>
            </a:extLst>
          </p:cNvPr>
          <p:cNvSpPr txBox="1"/>
          <p:nvPr/>
        </p:nvSpPr>
        <p:spPr>
          <a:xfrm>
            <a:off x="1163052" y="272716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ER 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7A6D4BC-2B5C-0920-50B1-C152CA349141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D39984B-631A-0C17-1F3F-B597B52D4A83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E7DD06-E6A5-1944-9AA8-8A4F80E4A643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3451A9-DC8E-C261-B899-2C8B3910708B}"/>
              </a:ext>
            </a:extLst>
          </p:cNvPr>
          <p:cNvSpPr txBox="1"/>
          <p:nvPr/>
        </p:nvSpPr>
        <p:spPr>
          <a:xfrm>
            <a:off x="885286" y="1453547"/>
            <a:ext cx="785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ER </a:t>
            </a:r>
            <a:r>
              <a:rPr lang="ko-KR" altLang="en-US" b="1" dirty="0">
                <a:solidFill>
                  <a:schemeClr val="accent1"/>
                </a:solidFill>
              </a:rPr>
              <a:t>네트워크 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두 노드가 확률 </a:t>
            </a:r>
            <a:r>
              <a:rPr lang="en-US" altLang="ko-KR" b="1" dirty="0">
                <a:solidFill>
                  <a:schemeClr val="accent1"/>
                </a:solidFill>
              </a:rPr>
              <a:t>p</a:t>
            </a:r>
            <a:r>
              <a:rPr lang="ko-KR" altLang="en-US" b="1" dirty="0">
                <a:solidFill>
                  <a:schemeClr val="accent1"/>
                </a:solidFill>
              </a:rPr>
              <a:t>로 연결되는 랜덤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5376A-698B-1E39-C2C9-57CBCF8501E0}"/>
              </a:ext>
            </a:extLst>
          </p:cNvPr>
          <p:cNvSpPr txBox="1"/>
          <p:nvPr/>
        </p:nvSpPr>
        <p:spPr>
          <a:xfrm>
            <a:off x="885286" y="2366730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en-US" altLang="ko-KR" b="1" dirty="0">
                <a:solidFill>
                  <a:schemeClr val="accent1"/>
                </a:solidFill>
              </a:rPr>
              <a:t>?”</a:t>
            </a:r>
            <a:r>
              <a:rPr lang="ko-KR" altLang="en-US" b="1" dirty="0" err="1">
                <a:solidFill>
                  <a:schemeClr val="accent1"/>
                </a:solidFill>
              </a:rPr>
              <a:t>ㅇ래ㅣ래ㅑㅏㅅ히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DA0ABF-9FCF-8B7E-3045-D29C28426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73" y="2927915"/>
            <a:ext cx="5176519" cy="275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22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8BB4-8B2D-BC13-5413-F38086C3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6B8D737-42E0-BADF-648A-71B3C788144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CA466B4-2D19-1BB8-6CCF-929DA9DC3177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AA0FB-4A99-E59F-D064-2C7C88452519}"/>
              </a:ext>
            </a:extLst>
          </p:cNvPr>
          <p:cNvSpPr txBox="1"/>
          <p:nvPr/>
        </p:nvSpPr>
        <p:spPr>
          <a:xfrm>
            <a:off x="1163052" y="272716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ER 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F344121-60EA-8EAF-36CB-B195F16A353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FD9AF4-ABA3-EABC-1597-B4F5A5D9303D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A10646-F783-7F98-E08F-CC450EA1E1B4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09F4CC-8BC3-40D1-3736-44D38805CB6A}"/>
              </a:ext>
            </a:extLst>
          </p:cNvPr>
          <p:cNvSpPr txBox="1"/>
          <p:nvPr/>
        </p:nvSpPr>
        <p:spPr>
          <a:xfrm>
            <a:off x="885286" y="1453547"/>
            <a:ext cx="785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ER </a:t>
            </a:r>
            <a:r>
              <a:rPr lang="ko-KR" altLang="en-US" b="1" dirty="0">
                <a:solidFill>
                  <a:schemeClr val="accent1"/>
                </a:solidFill>
              </a:rPr>
              <a:t>네트워크 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두 노드가 확률 </a:t>
            </a:r>
            <a:r>
              <a:rPr lang="en-US" altLang="ko-KR" b="1" dirty="0">
                <a:solidFill>
                  <a:schemeClr val="accent1"/>
                </a:solidFill>
              </a:rPr>
              <a:t>p</a:t>
            </a:r>
            <a:r>
              <a:rPr lang="ko-KR" altLang="en-US" b="1" dirty="0">
                <a:solidFill>
                  <a:schemeClr val="accent1"/>
                </a:solidFill>
              </a:rPr>
              <a:t>로 연결되는 랜덤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8F69C-A6AC-C781-5805-80423133A49D}"/>
              </a:ext>
            </a:extLst>
          </p:cNvPr>
          <p:cNvSpPr txBox="1"/>
          <p:nvPr/>
        </p:nvSpPr>
        <p:spPr>
          <a:xfrm>
            <a:off x="885286" y="2366730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en-US" altLang="ko-KR" b="1" dirty="0">
                <a:solidFill>
                  <a:schemeClr val="accent1"/>
                </a:solidFill>
              </a:rPr>
              <a:t>?”</a:t>
            </a:r>
            <a:r>
              <a:rPr lang="ko-KR" altLang="en-US" b="1" dirty="0" err="1">
                <a:solidFill>
                  <a:schemeClr val="accent1"/>
                </a:solidFill>
              </a:rPr>
              <a:t>ㅇ래ㅣ래ㅑㅏㅅ히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6B0E60-51E1-81AB-9679-0E8277971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73" y="2927915"/>
            <a:ext cx="5176519" cy="275311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843F911-88F1-CB54-3305-97C45228ACE4}"/>
              </a:ext>
            </a:extLst>
          </p:cNvPr>
          <p:cNvCxnSpPr/>
          <p:nvPr/>
        </p:nvCxnSpPr>
        <p:spPr>
          <a:xfrm flipH="1">
            <a:off x="3123646" y="2551274"/>
            <a:ext cx="230909" cy="369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979F28-42C9-1436-D505-1E9988CFDE37}"/>
              </a:ext>
            </a:extLst>
          </p:cNvPr>
          <p:cNvSpPr txBox="1"/>
          <p:nvPr/>
        </p:nvSpPr>
        <p:spPr>
          <a:xfrm>
            <a:off x="3016022" y="2217746"/>
            <a:ext cx="931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노드 수 </a:t>
            </a:r>
          </a:p>
        </p:txBody>
      </p:sp>
    </p:spTree>
    <p:extLst>
      <p:ext uri="{BB962C8B-B14F-4D97-AF65-F5344CB8AC3E}">
        <p14:creationId xmlns:p14="http://schemas.microsoft.com/office/powerpoint/2010/main" val="3590970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184C-564C-4EBF-30E3-5BA63DA3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D22AC72-6C51-A107-B31A-5E8D9491CE7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740AB1-FE8E-BD12-B44E-BB53AEC19DA4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FD748-DC34-EE29-8CB0-2701AA3D7AAD}"/>
              </a:ext>
            </a:extLst>
          </p:cNvPr>
          <p:cNvSpPr txBox="1"/>
          <p:nvPr/>
        </p:nvSpPr>
        <p:spPr>
          <a:xfrm>
            <a:off x="1163052" y="272716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ER 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57DD156-32B6-D02F-129F-B0A599A24279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8601883-1522-DA82-51C1-8DB7D711021E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469EDA-313A-7956-3BA0-FC28CBF59119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FAF5E7-7E1A-0AEA-A5DB-9E196253555D}"/>
              </a:ext>
            </a:extLst>
          </p:cNvPr>
          <p:cNvSpPr txBox="1"/>
          <p:nvPr/>
        </p:nvSpPr>
        <p:spPr>
          <a:xfrm>
            <a:off x="885286" y="1453547"/>
            <a:ext cx="785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ER </a:t>
            </a:r>
            <a:r>
              <a:rPr lang="ko-KR" altLang="en-US" b="1" dirty="0">
                <a:solidFill>
                  <a:schemeClr val="accent1"/>
                </a:solidFill>
              </a:rPr>
              <a:t>네트워크 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두 노드가 확률 </a:t>
            </a:r>
            <a:r>
              <a:rPr lang="en-US" altLang="ko-KR" b="1" dirty="0">
                <a:solidFill>
                  <a:schemeClr val="accent1"/>
                </a:solidFill>
              </a:rPr>
              <a:t>p</a:t>
            </a:r>
            <a:r>
              <a:rPr lang="ko-KR" altLang="en-US" b="1" dirty="0">
                <a:solidFill>
                  <a:schemeClr val="accent1"/>
                </a:solidFill>
              </a:rPr>
              <a:t>로 연결되는 랜덤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23316-6EAE-325C-6590-C756467538FC}"/>
              </a:ext>
            </a:extLst>
          </p:cNvPr>
          <p:cNvSpPr txBox="1"/>
          <p:nvPr/>
        </p:nvSpPr>
        <p:spPr>
          <a:xfrm>
            <a:off x="885286" y="2366730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en-US" altLang="ko-KR" b="1" dirty="0">
                <a:solidFill>
                  <a:schemeClr val="accent1"/>
                </a:solidFill>
              </a:rPr>
              <a:t>?”</a:t>
            </a:r>
            <a:r>
              <a:rPr lang="ko-KR" altLang="en-US" b="1" dirty="0" err="1">
                <a:solidFill>
                  <a:schemeClr val="accent1"/>
                </a:solidFill>
              </a:rPr>
              <a:t>ㅇ래ㅣ래ㅑㅏㅅ히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5B945C-0BC2-980C-BD39-1C48C7B18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73" y="2927915"/>
            <a:ext cx="5176519" cy="275311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A9C2A7C-C876-FD89-28F2-7081FD3EB9F8}"/>
              </a:ext>
            </a:extLst>
          </p:cNvPr>
          <p:cNvCxnSpPr/>
          <p:nvPr/>
        </p:nvCxnSpPr>
        <p:spPr>
          <a:xfrm flipH="1">
            <a:off x="3428677" y="2551274"/>
            <a:ext cx="230909" cy="369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75DFB4-3528-9C87-C23C-561CA2998285}"/>
              </a:ext>
            </a:extLst>
          </p:cNvPr>
          <p:cNvSpPr txBox="1"/>
          <p:nvPr/>
        </p:nvSpPr>
        <p:spPr>
          <a:xfrm>
            <a:off x="3126156" y="2227895"/>
            <a:ext cx="168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chemeClr val="accent1"/>
                </a:solidFill>
              </a:rPr>
              <a:t>연결 확률 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307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95F0-7FCD-5711-6F91-D7F9B5779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93A08D-F4FC-AC8B-F81A-7DACEE59681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D9DB8C-AB4B-DD5D-597C-1E534EA0982C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F597A-6006-3719-7516-1C7AAF73A328}"/>
              </a:ext>
            </a:extLst>
          </p:cNvPr>
          <p:cNvSpPr txBox="1"/>
          <p:nvPr/>
        </p:nvSpPr>
        <p:spPr>
          <a:xfrm>
            <a:off x="1163052" y="272716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ER 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FB96C17-2853-F955-4AFD-C84248E9985D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D596144-B435-DA36-C33E-907BD001C681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D3A51B-B36A-C7C8-B856-D910CD4FCF02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17C8EA-BE9D-1CB6-798B-13C2A0B7D544}"/>
              </a:ext>
            </a:extLst>
          </p:cNvPr>
          <p:cNvSpPr txBox="1"/>
          <p:nvPr/>
        </p:nvSpPr>
        <p:spPr>
          <a:xfrm>
            <a:off x="885286" y="1453547"/>
            <a:ext cx="785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ER </a:t>
            </a:r>
            <a:r>
              <a:rPr lang="ko-KR" altLang="en-US" b="1" dirty="0">
                <a:solidFill>
                  <a:schemeClr val="accent1"/>
                </a:solidFill>
              </a:rPr>
              <a:t>네트워크 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두 노드가 확률 </a:t>
            </a:r>
            <a:r>
              <a:rPr lang="en-US" altLang="ko-KR" b="1" dirty="0">
                <a:solidFill>
                  <a:schemeClr val="accent1"/>
                </a:solidFill>
              </a:rPr>
              <a:t>p</a:t>
            </a:r>
            <a:r>
              <a:rPr lang="ko-KR" altLang="en-US" b="1" dirty="0">
                <a:solidFill>
                  <a:schemeClr val="accent1"/>
                </a:solidFill>
              </a:rPr>
              <a:t>로 연결되는 랜덤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C7BAB-DC40-481A-60D2-3234E1D356A7}"/>
              </a:ext>
            </a:extLst>
          </p:cNvPr>
          <p:cNvSpPr txBox="1"/>
          <p:nvPr/>
        </p:nvSpPr>
        <p:spPr>
          <a:xfrm>
            <a:off x="885286" y="2366730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r>
              <a:rPr lang="en-US" altLang="ko-KR" b="1" dirty="0">
                <a:solidFill>
                  <a:schemeClr val="accent1"/>
                </a:solidFill>
              </a:rPr>
              <a:t>?”</a:t>
            </a:r>
            <a:r>
              <a:rPr lang="ko-KR" altLang="en-US" b="1" dirty="0" err="1">
                <a:solidFill>
                  <a:schemeClr val="accent1"/>
                </a:solidFill>
              </a:rPr>
              <a:t>ㅇ래ㅣ래ㅑㅏㅅ히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1AA526-702C-5222-19EE-FA4EE14D6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73" y="2927915"/>
            <a:ext cx="5176519" cy="275311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D613C41-E5B8-62EE-D67B-9314B07CFB0A}"/>
              </a:ext>
            </a:extLst>
          </p:cNvPr>
          <p:cNvCxnSpPr>
            <a:cxnSpLocks/>
          </p:cNvCxnSpPr>
          <p:nvPr/>
        </p:nvCxnSpPr>
        <p:spPr>
          <a:xfrm flipH="1">
            <a:off x="5800926" y="3486895"/>
            <a:ext cx="590147" cy="4506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6B88C525-5B95-4EB4-D6DD-D8661C24F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16" y="1879110"/>
            <a:ext cx="688927" cy="44077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9E9C05-2FDA-5481-F219-31C3A47002B3}"/>
              </a:ext>
            </a:extLst>
          </p:cNvPr>
          <p:cNvSpPr txBox="1"/>
          <p:nvPr/>
        </p:nvSpPr>
        <p:spPr>
          <a:xfrm>
            <a:off x="7121236" y="3423382"/>
            <a:ext cx="196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모든 노드 쌍 반환</a:t>
            </a:r>
          </a:p>
        </p:txBody>
      </p:sp>
    </p:spTree>
    <p:extLst>
      <p:ext uri="{BB962C8B-B14F-4D97-AF65-F5344CB8AC3E}">
        <p14:creationId xmlns:p14="http://schemas.microsoft.com/office/powerpoint/2010/main" val="521142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96E6-7F11-9EE0-F605-AB7EB1DD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D9F90A5-F009-1E56-E753-B2066EF855D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8010C0B-176C-B5AB-F17E-1DC73523423B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DC18B-C591-E633-AF63-F92B733D325D}"/>
              </a:ext>
            </a:extLst>
          </p:cNvPr>
          <p:cNvSpPr txBox="1"/>
          <p:nvPr/>
        </p:nvSpPr>
        <p:spPr>
          <a:xfrm>
            <a:off x="1163052" y="272716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ER 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네트워크 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B73808-8E5A-A66C-4A34-85B700E54DB5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ECBD79-BC31-6579-E990-FB03527B312E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898764-5DE0-A613-842C-4F492667D5F5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B7E6F1-1835-0C39-ECB0-6D62CEE52436}"/>
              </a:ext>
            </a:extLst>
          </p:cNvPr>
          <p:cNvSpPr txBox="1"/>
          <p:nvPr/>
        </p:nvSpPr>
        <p:spPr>
          <a:xfrm>
            <a:off x="885286" y="1453547"/>
            <a:ext cx="785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ER </a:t>
            </a:r>
            <a:r>
              <a:rPr lang="ko-KR" altLang="en-US" b="1" dirty="0">
                <a:solidFill>
                  <a:schemeClr val="accent1"/>
                </a:solidFill>
              </a:rPr>
              <a:t>네트워크 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두 노드가 확률 </a:t>
            </a:r>
            <a:r>
              <a:rPr lang="en-US" altLang="ko-KR" b="1" dirty="0">
                <a:solidFill>
                  <a:schemeClr val="accent1"/>
                </a:solidFill>
              </a:rPr>
              <a:t>p</a:t>
            </a:r>
            <a:r>
              <a:rPr lang="ko-KR" altLang="en-US" b="1" dirty="0">
                <a:solidFill>
                  <a:schemeClr val="accent1"/>
                </a:solidFill>
              </a:rPr>
              <a:t>로 연결되는 랜덤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CFE8F-37C2-D697-ECAA-6C38159CC50B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5C04287-63F3-C7D6-8EF3-178F108E5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970" y="1988674"/>
            <a:ext cx="1952898" cy="2572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CC1CAF-5055-D780-38D5-7003F087B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762" y="2411680"/>
            <a:ext cx="3923314" cy="363775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71D1986-CD25-E874-8AD0-AF6499965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622" y="2157195"/>
            <a:ext cx="4978224" cy="430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04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46D6-7E58-0F4A-A136-B37D5DA3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1554E52-D50E-9229-87EE-929A008BA83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7CEFBAB-C19D-E73F-431E-1E6424114D0C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0C912-E112-9DE7-DAA7-6D3914D7EAA5}"/>
              </a:ext>
            </a:extLst>
          </p:cNvPr>
          <p:cNvSpPr txBox="1"/>
          <p:nvPr/>
        </p:nvSpPr>
        <p:spPr>
          <a:xfrm>
            <a:off x="1163052" y="272716"/>
            <a:ext cx="4789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Configuration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938054C-A331-3407-BC40-F44FE45D230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54F01E2-077A-A93F-FA80-36557E52ADA7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6F98D2-3FEA-079B-BCFC-82CB94616107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0E3EB-26C4-997A-EDA4-98873C92D5FC}"/>
              </a:ext>
            </a:extLst>
          </p:cNvPr>
          <p:cNvSpPr txBox="1"/>
          <p:nvPr/>
        </p:nvSpPr>
        <p:spPr>
          <a:xfrm>
            <a:off x="885285" y="1453547"/>
            <a:ext cx="893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Configuration model : </a:t>
            </a:r>
            <a:r>
              <a:rPr lang="ko-KR" altLang="en-US" b="1" dirty="0">
                <a:solidFill>
                  <a:schemeClr val="accent1"/>
                </a:solidFill>
              </a:rPr>
              <a:t>정해진 각 노드의 차수</a:t>
            </a:r>
            <a:r>
              <a:rPr lang="en-US" altLang="ko-KR" b="1" dirty="0">
                <a:solidFill>
                  <a:schemeClr val="accent1"/>
                </a:solidFill>
              </a:rPr>
              <a:t>(degree)</a:t>
            </a:r>
            <a:r>
              <a:rPr lang="ko-KR" altLang="en-US" b="1" dirty="0">
                <a:solidFill>
                  <a:schemeClr val="accent1"/>
                </a:solidFill>
              </a:rPr>
              <a:t>를 유지하면서 랜덤 그래프 생성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374D4-909A-CA19-7B41-A2C1FA562F46}"/>
              </a:ext>
            </a:extLst>
          </p:cNvPr>
          <p:cNvSpPr txBox="1"/>
          <p:nvPr/>
        </p:nvSpPr>
        <p:spPr>
          <a:xfrm>
            <a:off x="885286" y="2366730"/>
            <a:ext cx="61237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생성 방식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chemeClr val="accent1"/>
                </a:solidFill>
              </a:rPr>
              <a:t>노드 별 차수 분포를 설정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altLang="ko-KR" b="1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chemeClr val="accent1"/>
                </a:solidFill>
              </a:rPr>
              <a:t>노드의 남은 연결 가능한 </a:t>
            </a:r>
            <a:r>
              <a:rPr lang="ko-KR" altLang="en-US" b="1" dirty="0" err="1">
                <a:solidFill>
                  <a:schemeClr val="accent1"/>
                </a:solidFill>
              </a:rPr>
              <a:t>엣지를</a:t>
            </a:r>
            <a:r>
              <a:rPr lang="ko-KR" altLang="en-US" b="1" dirty="0">
                <a:solidFill>
                  <a:schemeClr val="accent1"/>
                </a:solidFill>
              </a:rPr>
              <a:t> 임의로 연결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844E4-D198-557E-C7C8-76C511491883}"/>
              </a:ext>
            </a:extLst>
          </p:cNvPr>
          <p:cNvSpPr txBox="1"/>
          <p:nvPr/>
        </p:nvSpPr>
        <p:spPr>
          <a:xfrm>
            <a:off x="885286" y="4387909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특성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1"/>
                </a:solidFill>
              </a:rPr>
              <a:t>차수 분포에 따라 허브 존재 가능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763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19A59-905E-20CD-2B37-A5B69844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109C96-761B-8C8F-B8DC-DA8951CB7C6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4DAEF2B-83F3-40EF-9567-5AF78579CD96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EF083-6E5F-4A45-A5B1-C0977C032C96}"/>
              </a:ext>
            </a:extLst>
          </p:cNvPr>
          <p:cNvSpPr txBox="1"/>
          <p:nvPr/>
        </p:nvSpPr>
        <p:spPr>
          <a:xfrm>
            <a:off x="1163052" y="272716"/>
            <a:ext cx="4703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Configuration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6F80E3A-9AC8-0783-13E4-CB7448173A41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A8A238C-E00B-1D74-0B78-54F084E1DA99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CB72E7-C7FA-A090-FD5B-F2F3BA30DDAE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1B325-0CCA-D976-FD08-9CBE12707DD6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Configuration model : </a:t>
            </a:r>
            <a:r>
              <a:rPr lang="ko-KR" altLang="en-US" b="1" dirty="0">
                <a:solidFill>
                  <a:schemeClr val="accent1"/>
                </a:solidFill>
              </a:rPr>
              <a:t>정해진 각 노드의 차수</a:t>
            </a:r>
            <a:r>
              <a:rPr lang="en-US" altLang="ko-KR" b="1" dirty="0">
                <a:solidFill>
                  <a:schemeClr val="accent1"/>
                </a:solidFill>
              </a:rPr>
              <a:t>(degree)</a:t>
            </a:r>
            <a:r>
              <a:rPr lang="ko-KR" altLang="en-US" b="1" dirty="0">
                <a:solidFill>
                  <a:schemeClr val="accent1"/>
                </a:solidFill>
              </a:rPr>
              <a:t>를 유지하면서 랜덤 그래프 생성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EDF00-2144-7C31-9C9F-F908AEDACB8A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27C74D-98AD-BC9D-38AC-B290645F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724359"/>
            <a:ext cx="3333623" cy="386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57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591A-36F8-B5F3-8B56-36C057221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BB34BCB-DDD8-605F-CEA2-88BB9E4826D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A33243A-BB1D-4672-DB01-5B9E8CF55EB3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2D26D-5AA3-2010-0FFC-84029F10A4FB}"/>
              </a:ext>
            </a:extLst>
          </p:cNvPr>
          <p:cNvSpPr txBox="1"/>
          <p:nvPr/>
        </p:nvSpPr>
        <p:spPr>
          <a:xfrm>
            <a:off x="1163052" y="272716"/>
            <a:ext cx="4703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Configuration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84DB648-7C81-FF21-443F-EC7F7E704A99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126085B-4EB6-6D33-E933-EE4409059E8C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E7D8E8-2B29-AD00-1A74-B5B11A652E98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164655-BD91-840E-3E02-89591A938E22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Configuration model : </a:t>
            </a:r>
            <a:r>
              <a:rPr lang="ko-KR" altLang="en-US" b="1" dirty="0">
                <a:solidFill>
                  <a:schemeClr val="accent1"/>
                </a:solidFill>
              </a:rPr>
              <a:t>정해진 각 노드의 차수</a:t>
            </a:r>
            <a:r>
              <a:rPr lang="en-US" altLang="ko-KR" b="1" dirty="0">
                <a:solidFill>
                  <a:schemeClr val="accent1"/>
                </a:solidFill>
              </a:rPr>
              <a:t>(degree)</a:t>
            </a:r>
            <a:r>
              <a:rPr lang="ko-KR" altLang="en-US" b="1" dirty="0">
                <a:solidFill>
                  <a:schemeClr val="accent1"/>
                </a:solidFill>
              </a:rPr>
              <a:t>를 유지하면서 랜덤 그래프 생성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B9ADE-26E4-2C73-7916-37EDCCE9D751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79F56BF-F554-FE2D-7CC7-136734A3C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724359"/>
            <a:ext cx="3333623" cy="3860925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0746209-FD9B-FDF0-2CD5-A62D30C7DC0F}"/>
              </a:ext>
            </a:extLst>
          </p:cNvPr>
          <p:cNvCxnSpPr/>
          <p:nvPr/>
        </p:nvCxnSpPr>
        <p:spPr>
          <a:xfrm flipH="1">
            <a:off x="3528291" y="2549236"/>
            <a:ext cx="1237673" cy="5357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D8871494-7F6F-0AFF-FE2C-2758269D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038" y="2182572"/>
            <a:ext cx="2781688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91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19DD-24AB-D8B8-C135-84558BDC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B64C82B-152B-C449-BA0B-69B11ED8845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DD17129-B944-11C9-727F-7D714324A3A5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1CC17-0797-DFBE-B8EE-FCE3D6201E08}"/>
              </a:ext>
            </a:extLst>
          </p:cNvPr>
          <p:cNvSpPr txBox="1"/>
          <p:nvPr/>
        </p:nvSpPr>
        <p:spPr>
          <a:xfrm>
            <a:off x="1163052" y="272716"/>
            <a:ext cx="4703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Configuration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539E9DD-CD05-EF57-6A2B-9E511F0FCF57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8225883-B65F-79EF-CEE6-8FD3F61A9845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8F14CC-B9CB-12D5-40E8-3D802A0D9F94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B860E5-EAC7-0446-7DAB-6AB5AD30C0CD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Configuration model : </a:t>
            </a:r>
            <a:r>
              <a:rPr lang="ko-KR" altLang="en-US" b="1" dirty="0">
                <a:solidFill>
                  <a:schemeClr val="accent1"/>
                </a:solidFill>
              </a:rPr>
              <a:t>정해진 각 노드의 차수</a:t>
            </a:r>
            <a:r>
              <a:rPr lang="en-US" altLang="ko-KR" b="1" dirty="0">
                <a:solidFill>
                  <a:schemeClr val="accent1"/>
                </a:solidFill>
              </a:rPr>
              <a:t>(degree)</a:t>
            </a:r>
            <a:r>
              <a:rPr lang="ko-KR" altLang="en-US" b="1" dirty="0">
                <a:solidFill>
                  <a:schemeClr val="accent1"/>
                </a:solidFill>
              </a:rPr>
              <a:t>를 유지하면서 랜덤 그래프 생성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90922-2EEA-6B4C-8DC0-B5586B667676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387F77D-AB04-B003-0143-09DE55D3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724359"/>
            <a:ext cx="3333623" cy="3860925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B9ABD4D-3BFA-A071-E7C1-B9A6F23E568F}"/>
              </a:ext>
            </a:extLst>
          </p:cNvPr>
          <p:cNvCxnSpPr/>
          <p:nvPr/>
        </p:nvCxnSpPr>
        <p:spPr>
          <a:xfrm flipH="1">
            <a:off x="2983345" y="4520560"/>
            <a:ext cx="1237673" cy="5357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546D4A4-5A87-9198-836D-881B30455D47}"/>
              </a:ext>
            </a:extLst>
          </p:cNvPr>
          <p:cNvSpPr txBox="1"/>
          <p:nvPr/>
        </p:nvSpPr>
        <p:spPr>
          <a:xfrm>
            <a:off x="4469643" y="4245174"/>
            <a:ext cx="399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chemeClr val="accent1"/>
                </a:solidFill>
              </a:rPr>
              <a:t>Stub_list</a:t>
            </a:r>
            <a:r>
              <a:rPr lang="en-US" altLang="ko-KR" b="1" dirty="0">
                <a:solidFill>
                  <a:schemeClr val="accent1"/>
                </a:solidFill>
              </a:rPr>
              <a:t> </a:t>
            </a:r>
            <a:r>
              <a:rPr lang="ko-KR" altLang="en-US" b="1" dirty="0">
                <a:solidFill>
                  <a:schemeClr val="accent1"/>
                </a:solidFill>
              </a:rPr>
              <a:t>의 첫번째 </a:t>
            </a:r>
            <a:r>
              <a:rPr lang="en-US" altLang="ko-KR" b="1" dirty="0">
                <a:solidFill>
                  <a:schemeClr val="accent1"/>
                </a:solidFill>
              </a:rPr>
              <a:t>, </a:t>
            </a:r>
            <a:r>
              <a:rPr lang="ko-KR" altLang="en-US" b="1" dirty="0">
                <a:solidFill>
                  <a:schemeClr val="accent1"/>
                </a:solidFill>
              </a:rPr>
              <a:t>두번째 노드 </a:t>
            </a:r>
          </a:p>
        </p:txBody>
      </p:sp>
    </p:spTree>
    <p:extLst>
      <p:ext uri="{BB962C8B-B14F-4D97-AF65-F5344CB8AC3E}">
        <p14:creationId xmlns:p14="http://schemas.microsoft.com/office/powerpoint/2010/main" val="3318669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B1EC-5CEA-876F-16D7-EBC1426F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4502F4F-8E86-4C2E-A136-ABE51F447B2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DAB431-7E84-4342-9F25-2F174D2FF314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B3066-CF5C-264D-4342-8EDADC76474A}"/>
              </a:ext>
            </a:extLst>
          </p:cNvPr>
          <p:cNvSpPr txBox="1"/>
          <p:nvPr/>
        </p:nvSpPr>
        <p:spPr>
          <a:xfrm>
            <a:off x="1163052" y="272716"/>
            <a:ext cx="4703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Configuration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F14BEB2-DDB8-1D74-6725-4B4AF1C02245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58AD7F3-3AD3-C2F4-1AD9-E27FE88EB924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4964274-0569-10F4-6EDE-2643198AB6B0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CFA1E-15E9-CE50-80B6-CE3F31E5D537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Configuration model : </a:t>
            </a:r>
            <a:r>
              <a:rPr lang="ko-KR" altLang="en-US" b="1" dirty="0">
                <a:solidFill>
                  <a:schemeClr val="accent1"/>
                </a:solidFill>
              </a:rPr>
              <a:t>정해진 각 노드의 차수</a:t>
            </a:r>
            <a:r>
              <a:rPr lang="en-US" altLang="ko-KR" b="1" dirty="0">
                <a:solidFill>
                  <a:schemeClr val="accent1"/>
                </a:solidFill>
              </a:rPr>
              <a:t>(degree)</a:t>
            </a:r>
            <a:r>
              <a:rPr lang="ko-KR" altLang="en-US" b="1" dirty="0">
                <a:solidFill>
                  <a:schemeClr val="accent1"/>
                </a:solidFill>
              </a:rPr>
              <a:t>를 유지하면서 랜덤 그래프 생성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76A2C-C070-98F6-DB75-BD542495757B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DDC752-0F4C-C2ED-A211-93454C1DC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724359"/>
            <a:ext cx="3333623" cy="3860925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8937749-0164-5650-4217-E308A2351D36}"/>
              </a:ext>
            </a:extLst>
          </p:cNvPr>
          <p:cNvCxnSpPr/>
          <p:nvPr/>
        </p:nvCxnSpPr>
        <p:spPr>
          <a:xfrm flipH="1">
            <a:off x="3602181" y="4972135"/>
            <a:ext cx="1237673" cy="5357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6D2575-F6EC-57AD-20D2-878E802BC5AC}"/>
              </a:ext>
            </a:extLst>
          </p:cNvPr>
          <p:cNvSpPr txBox="1"/>
          <p:nvPr/>
        </p:nvSpPr>
        <p:spPr>
          <a:xfrm>
            <a:off x="4839854" y="4654821"/>
            <a:ext cx="399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노드가 같으면 다시 섞기</a:t>
            </a:r>
          </a:p>
        </p:txBody>
      </p:sp>
    </p:spTree>
    <p:extLst>
      <p:ext uri="{BB962C8B-B14F-4D97-AF65-F5344CB8AC3E}">
        <p14:creationId xmlns:p14="http://schemas.microsoft.com/office/powerpoint/2010/main" val="3047439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D3EE-AEE9-25C0-BD17-D3FD3792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82AE96-C317-DB40-F17F-DC474EB27B3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CB6347B-8C00-2735-2D5B-6C706526602E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61491-E1DC-3336-4707-E443DDDB5DEB}"/>
              </a:ext>
            </a:extLst>
          </p:cNvPr>
          <p:cNvSpPr txBox="1"/>
          <p:nvPr/>
        </p:nvSpPr>
        <p:spPr>
          <a:xfrm>
            <a:off x="1163052" y="272716"/>
            <a:ext cx="4703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Configuration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56A4530-06B6-2A38-6E57-191A0BB48924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FC2E1CB-F122-5CB7-089B-F08AE6C35E13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1DA772-2BA6-3922-F580-4CA505545CF5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78726-36CB-9DEB-6026-CDBDC2A3E061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Configuration model : </a:t>
            </a:r>
            <a:r>
              <a:rPr lang="ko-KR" altLang="en-US" b="1" dirty="0">
                <a:solidFill>
                  <a:schemeClr val="accent1"/>
                </a:solidFill>
              </a:rPr>
              <a:t>정해진 각 노드의 차수</a:t>
            </a:r>
            <a:r>
              <a:rPr lang="en-US" altLang="ko-KR" b="1" dirty="0">
                <a:solidFill>
                  <a:schemeClr val="accent1"/>
                </a:solidFill>
              </a:rPr>
              <a:t>(degree)</a:t>
            </a:r>
            <a:r>
              <a:rPr lang="ko-KR" altLang="en-US" b="1" dirty="0">
                <a:solidFill>
                  <a:schemeClr val="accent1"/>
                </a:solidFill>
              </a:rPr>
              <a:t>를 유지하면서 랜덤 그래프 생성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34018-6A5C-6567-A3E9-2785C73D8754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52EC4C-DC79-63A9-6004-3ED207BE2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724359"/>
            <a:ext cx="3333623" cy="3860925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D6BC810-1C3B-C8A3-CDA4-86E2C08B2502}"/>
              </a:ext>
            </a:extLst>
          </p:cNvPr>
          <p:cNvCxnSpPr/>
          <p:nvPr/>
        </p:nvCxnSpPr>
        <p:spPr>
          <a:xfrm flipH="1">
            <a:off x="3328303" y="5640926"/>
            <a:ext cx="1237673" cy="5357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BE975F-7D28-4C3E-DAAD-ECD804CAA8D1}"/>
              </a:ext>
            </a:extLst>
          </p:cNvPr>
          <p:cNvSpPr txBox="1"/>
          <p:nvPr/>
        </p:nvSpPr>
        <p:spPr>
          <a:xfrm>
            <a:off x="4662253" y="5341410"/>
            <a:ext cx="399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노드가 다르면 연결</a:t>
            </a:r>
          </a:p>
        </p:txBody>
      </p:sp>
    </p:spTree>
    <p:extLst>
      <p:ext uri="{BB962C8B-B14F-4D97-AF65-F5344CB8AC3E}">
        <p14:creationId xmlns:p14="http://schemas.microsoft.com/office/powerpoint/2010/main" val="313612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B92CC-2727-E7FE-9FD8-AE10C0E0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A806B2D-54F2-9DFB-0F31-355A0B732B0D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71B137E-3410-3F9E-0424-1007FEEE9EFF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18DA1-258E-5871-69C6-8F8FA8CAE5CE}"/>
              </a:ext>
            </a:extLst>
          </p:cNvPr>
          <p:cNvSpPr txBox="1"/>
          <p:nvPr/>
        </p:nvSpPr>
        <p:spPr>
          <a:xfrm>
            <a:off x="1163052" y="272716"/>
            <a:ext cx="4703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Configuration 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AB0BF1-EBE9-D1A0-8B9B-79763D9EDDC7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40FA01-3F58-2DB8-5BE2-F1E1FB77FE29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F65452B-8765-EA0C-3CC8-35E90CD88970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F1965-C7EF-B945-B6BA-102DE20AC780}"/>
              </a:ext>
            </a:extLst>
          </p:cNvPr>
          <p:cNvSpPr txBox="1"/>
          <p:nvPr/>
        </p:nvSpPr>
        <p:spPr>
          <a:xfrm>
            <a:off x="885285" y="1453547"/>
            <a:ext cx="931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Configuration model : </a:t>
            </a:r>
            <a:r>
              <a:rPr lang="ko-KR" altLang="en-US" b="1" dirty="0">
                <a:solidFill>
                  <a:schemeClr val="accent1"/>
                </a:solidFill>
              </a:rPr>
              <a:t>정해진 각 노드의 차수</a:t>
            </a:r>
            <a:r>
              <a:rPr lang="en-US" altLang="ko-KR" b="1" dirty="0">
                <a:solidFill>
                  <a:schemeClr val="accent1"/>
                </a:solidFill>
              </a:rPr>
              <a:t>(degree)</a:t>
            </a:r>
            <a:r>
              <a:rPr lang="ko-KR" altLang="en-US" b="1" dirty="0">
                <a:solidFill>
                  <a:schemeClr val="accent1"/>
                </a:solidFill>
              </a:rPr>
              <a:t>를 유지하면서 랜덤 그래프 생성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883EE8-0C7F-1CC0-4931-68F81290B545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932BCAD-AEEC-8BBE-8A96-CB1D89138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086" y="2098990"/>
            <a:ext cx="1514686" cy="24768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B260106-4113-B2B6-EFB8-8ABF02BEB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610" y="1852587"/>
            <a:ext cx="4887866" cy="473269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DBB63F3-C8F6-689D-C81B-0152369F4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354" y="2359897"/>
            <a:ext cx="4199757" cy="388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667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EE72-1EF4-A0CD-1644-93E4A918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60CA2B9-3C9D-B432-34AB-343ACF5B95F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A14E82-0C7D-15C0-8AF9-A9D38D4E5769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0DCE-2347-CCF4-40C2-A8EF2D3FD1D8}"/>
              </a:ext>
            </a:extLst>
          </p:cNvPr>
          <p:cNvSpPr txBox="1"/>
          <p:nvPr/>
        </p:nvSpPr>
        <p:spPr>
          <a:xfrm>
            <a:off x="1163052" y="272716"/>
            <a:ext cx="3637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chung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 - 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lu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 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79FC623-0205-560C-88F5-A754E90DDC84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7D737F-45CB-6AD2-919A-497DD3998906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A6D819-9ED7-71B0-849F-C880E0BC2D2E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569D83-E621-13B0-C152-0CA29A4C7C35}"/>
              </a:ext>
            </a:extLst>
          </p:cNvPr>
          <p:cNvSpPr txBox="1"/>
          <p:nvPr/>
        </p:nvSpPr>
        <p:spPr>
          <a:xfrm>
            <a:off x="885285" y="1453547"/>
            <a:ext cx="893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Chung - </a:t>
            </a:r>
            <a:r>
              <a:rPr lang="en-US" altLang="ko-KR" b="1" dirty="0" err="1">
                <a:solidFill>
                  <a:schemeClr val="accent1"/>
                </a:solidFill>
              </a:rPr>
              <a:t>lu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주어진 노드의 차수 </a:t>
            </a:r>
            <a:r>
              <a:rPr lang="ko-KR" altLang="en-US" b="1" dirty="0" err="1">
                <a:solidFill>
                  <a:schemeClr val="accent1"/>
                </a:solidFill>
              </a:rPr>
              <a:t>기대값에</a:t>
            </a:r>
            <a:r>
              <a:rPr lang="ko-KR" altLang="en-US" b="1" dirty="0">
                <a:solidFill>
                  <a:schemeClr val="accent1"/>
                </a:solidFill>
              </a:rPr>
              <a:t> 따라 연결 확률을 결정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00F523-7D79-7A61-0554-E7A4BB476697}"/>
                  </a:ext>
                </a:extLst>
              </p:cNvPr>
              <p:cNvSpPr txBox="1"/>
              <p:nvPr/>
            </p:nvSpPr>
            <p:spPr>
              <a:xfrm>
                <a:off x="885286" y="2366730"/>
                <a:ext cx="6123708" cy="2469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b="1" dirty="0">
                    <a:solidFill>
                      <a:schemeClr val="accent1"/>
                    </a:solidFill>
                  </a:rPr>
                  <a:t>생성 방식 </a:t>
                </a: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b="1" dirty="0">
                    <a:solidFill>
                      <a:schemeClr val="accent1"/>
                    </a:solidFill>
                  </a:rPr>
                  <a:t>각 노드에 차수 </a:t>
                </a:r>
                <a:r>
                  <a:rPr lang="ko-KR" altLang="en-US" b="1" dirty="0" err="1">
                    <a:solidFill>
                      <a:schemeClr val="accent1"/>
                    </a:solidFill>
                  </a:rPr>
                  <a:t>기대값</a:t>
                </a:r>
                <a:r>
                  <a:rPr lang="ko-KR" altLang="en-US" b="1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chemeClr val="accent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accent1"/>
                    </a:solidFill>
                  </a:rPr>
                  <a:t>설정</a:t>
                </a: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b="1" dirty="0">
                    <a:solidFill>
                      <a:schemeClr val="accent1"/>
                    </a:solidFill>
                  </a:rPr>
                  <a:t>두 노드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US" altLang="ko-KR" b="1" dirty="0">
                    <a:solidFill>
                      <a:schemeClr val="accent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accent1"/>
                    </a:solidFill>
                  </a:rPr>
                  <a:t>를 연결할 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ko-KR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altLang="ko-KR" b="1" dirty="0">
                    <a:solidFill>
                      <a:schemeClr val="accent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accent1"/>
                    </a:solidFill>
                  </a:rPr>
                  <a:t>계산</a:t>
                </a: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b="1" dirty="0">
                    <a:solidFill>
                      <a:schemeClr val="accent1"/>
                    </a:solidFill>
                  </a:rPr>
                  <a:t>계산된 확률로 랜덤 연결</a:t>
                </a: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r>
                  <a:rPr lang="en-US" altLang="ko-KR" b="1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00F523-7D79-7A61-0554-E7A4BB476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86" y="2366730"/>
                <a:ext cx="6123708" cy="2469715"/>
              </a:xfrm>
              <a:prstGeom prst="rect">
                <a:avLst/>
              </a:prstGeom>
              <a:blipFill>
                <a:blip r:embed="rId2"/>
                <a:stretch>
                  <a:fillRect l="-796" t="-17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C28D505-A43D-4BBA-53EC-1AF8C2684425}"/>
              </a:ext>
            </a:extLst>
          </p:cNvPr>
          <p:cNvSpPr txBox="1"/>
          <p:nvPr/>
        </p:nvSpPr>
        <p:spPr>
          <a:xfrm>
            <a:off x="885285" y="4717596"/>
            <a:ext cx="91084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특성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1"/>
                </a:solidFill>
              </a:rPr>
              <a:t>노드 연결 확률이 노드의 차수 </a:t>
            </a:r>
            <a:r>
              <a:rPr lang="ko-KR" altLang="en-US" b="1" dirty="0" err="1">
                <a:solidFill>
                  <a:schemeClr val="accent1"/>
                </a:solidFill>
              </a:rPr>
              <a:t>기대값에</a:t>
            </a:r>
            <a:r>
              <a:rPr lang="ko-KR" altLang="en-US" b="1" dirty="0">
                <a:solidFill>
                  <a:schemeClr val="accent1"/>
                </a:solidFill>
              </a:rPr>
              <a:t> 비례해 허브가 생성된다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  <a:r>
              <a:rPr lang="ko-KR" altLang="en-US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944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B794-A8A2-1381-7452-B4A93A77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9ADF7B-FE52-4692-54C2-ABCFD9D1230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4C0AA7A-970C-37D5-0208-920F3A2FCEF3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9FB8B-7622-901C-1518-4983CC0F2539}"/>
              </a:ext>
            </a:extLst>
          </p:cNvPr>
          <p:cNvSpPr txBox="1"/>
          <p:nvPr/>
        </p:nvSpPr>
        <p:spPr>
          <a:xfrm>
            <a:off x="1163052" y="272716"/>
            <a:ext cx="3637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chung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 - 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lu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FA92C94-ECFB-A5F0-7F9C-F2DDA7006649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CFECC0-178C-3C0B-D524-87CA74DA3F2C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48FDA8-ABCF-1E3C-B490-F736B50E4CEC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51661-89AC-D10A-E1E9-EBD2F4ABC939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Chung - </a:t>
            </a:r>
            <a:r>
              <a:rPr lang="en-US" altLang="ko-KR" b="1" dirty="0" err="1">
                <a:solidFill>
                  <a:schemeClr val="accent1"/>
                </a:solidFill>
              </a:rPr>
              <a:t>lu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주어진 노드의 차수 </a:t>
            </a:r>
            <a:r>
              <a:rPr lang="ko-KR" altLang="en-US" b="1" dirty="0" err="1">
                <a:solidFill>
                  <a:schemeClr val="accent1"/>
                </a:solidFill>
              </a:rPr>
              <a:t>기대값에</a:t>
            </a:r>
            <a:r>
              <a:rPr lang="ko-KR" altLang="en-US" b="1" dirty="0">
                <a:solidFill>
                  <a:schemeClr val="accent1"/>
                </a:solidFill>
              </a:rPr>
              <a:t> 따라 연결 확률을 결정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F388F-7F38-E6BD-AF55-05675EEF1548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0BAE0D-6D7C-EDB4-370A-8C21DF24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867562"/>
            <a:ext cx="4842297" cy="267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561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000A-52D6-B238-AB63-5B7100E9D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4C6C5C8-E96F-5BFB-A8F2-121BBBC2944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78C438-E4DA-9A40-2803-6A6B851A4C19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DEA52-D33E-450B-4A31-6D8C6CB4AFBC}"/>
              </a:ext>
            </a:extLst>
          </p:cNvPr>
          <p:cNvSpPr txBox="1"/>
          <p:nvPr/>
        </p:nvSpPr>
        <p:spPr>
          <a:xfrm>
            <a:off x="1163052" y="272716"/>
            <a:ext cx="3550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chung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 -  </a:t>
            </a:r>
            <a:r>
              <a:rPr lang="en-US" altLang="ko-KR" sz="2800" b="1" spc="-300" dirty="0" err="1">
                <a:solidFill>
                  <a:schemeClr val="accent1"/>
                </a:solidFill>
              </a:rPr>
              <a:t>lu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 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E5C62DA-7166-70DE-B7B7-8113A65F693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DBB366-29BB-3010-5081-BAFE1FA824F6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36CD21-328E-3CE8-C4CA-6747ED42F1D6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731A88-F6DD-133B-9B59-96D750990CC4}"/>
              </a:ext>
            </a:extLst>
          </p:cNvPr>
          <p:cNvSpPr txBox="1"/>
          <p:nvPr/>
        </p:nvSpPr>
        <p:spPr>
          <a:xfrm>
            <a:off x="885285" y="1453547"/>
            <a:ext cx="931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Chung - </a:t>
            </a:r>
            <a:r>
              <a:rPr lang="en-US" altLang="ko-KR" b="1" dirty="0" err="1">
                <a:solidFill>
                  <a:schemeClr val="accent1"/>
                </a:solidFill>
              </a:rPr>
              <a:t>lu</a:t>
            </a:r>
            <a:r>
              <a:rPr lang="en-US" altLang="ko-KR" b="1" dirty="0">
                <a:solidFill>
                  <a:schemeClr val="accent1"/>
                </a:solidFill>
              </a:rPr>
              <a:t>: </a:t>
            </a:r>
            <a:r>
              <a:rPr lang="ko-KR" altLang="en-US" b="1" dirty="0">
                <a:solidFill>
                  <a:schemeClr val="accent1"/>
                </a:solidFill>
              </a:rPr>
              <a:t>주어진 노드의 차수 </a:t>
            </a:r>
            <a:r>
              <a:rPr lang="ko-KR" altLang="en-US" b="1" dirty="0" err="1">
                <a:solidFill>
                  <a:schemeClr val="accent1"/>
                </a:solidFill>
              </a:rPr>
              <a:t>기대값에</a:t>
            </a:r>
            <a:r>
              <a:rPr lang="ko-KR" altLang="en-US" b="1" dirty="0">
                <a:solidFill>
                  <a:schemeClr val="accent1"/>
                </a:solidFill>
              </a:rPr>
              <a:t> 따라 연결 확률을 결정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79D38-469D-7EAE-B824-48E1DBB6ED20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F4DDB42-7465-C137-A302-E999E0951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75" y="2081215"/>
            <a:ext cx="1514686" cy="20005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809FCB6-EE8E-9199-C073-51CB43A9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1704"/>
            <a:ext cx="4845172" cy="447246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3B222CC-1115-46A9-6AA4-8970FC8C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159" y="2392070"/>
            <a:ext cx="3996581" cy="386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700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92BF-C7F2-3B98-9964-080EE83D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2A3CBBD-34F4-47D3-C0FA-98E8C0A3F25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57DA6A-D3D7-9C87-AC54-6F10E2FDB602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60A0D-5028-A460-81A1-6BFAD4BAAC66}"/>
              </a:ext>
            </a:extLst>
          </p:cNvPr>
          <p:cNvSpPr txBox="1"/>
          <p:nvPr/>
        </p:nvSpPr>
        <p:spPr>
          <a:xfrm>
            <a:off x="1163052" y="272716"/>
            <a:ext cx="3533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6224653-C09A-0EA0-EF02-4FE3978C501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9CAD7CB-2FD4-6141-A973-BE969C76F3A1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B32653-63C5-9FCB-5132-8F6FDBA31D04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DF617-F49E-D402-7076-EAD0794CEFBA}"/>
              </a:ext>
            </a:extLst>
          </p:cNvPr>
          <p:cNvSpPr txBox="1"/>
          <p:nvPr/>
        </p:nvSpPr>
        <p:spPr>
          <a:xfrm>
            <a:off x="885285" y="1453547"/>
            <a:ext cx="893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076266-B49B-D89D-2C3E-AD4F3347CD6F}"/>
                  </a:ext>
                </a:extLst>
              </p:cNvPr>
              <p:cNvSpPr txBox="1"/>
              <p:nvPr/>
            </p:nvSpPr>
            <p:spPr>
              <a:xfrm>
                <a:off x="885286" y="2366730"/>
                <a:ext cx="9025332" cy="168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b="1" dirty="0">
                    <a:solidFill>
                      <a:schemeClr val="accent1"/>
                    </a:solidFill>
                  </a:rPr>
                  <a:t>생성 방식 </a:t>
                </a: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b="1" dirty="0">
                    <a:solidFill>
                      <a:schemeClr val="accent1"/>
                    </a:solidFill>
                  </a:rPr>
                  <a:t>초기 네트워크에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b="1" dirty="0">
                    <a:solidFill>
                      <a:schemeClr val="accent1"/>
                    </a:solidFill>
                  </a:rPr>
                  <a:t>개의 노드 설정</a:t>
                </a: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b="1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b="1" dirty="0">
                    <a:solidFill>
                      <a:schemeClr val="accent1"/>
                    </a:solidFill>
                  </a:rPr>
                  <a:t>새로운 노드를 추가할 </a:t>
                </a:r>
                <a:r>
                  <a:rPr lang="ko-KR" altLang="en-US" b="1" dirty="0" err="1">
                    <a:solidFill>
                      <a:schemeClr val="accent1"/>
                    </a:solidFill>
                  </a:rPr>
                  <a:t>떄</a:t>
                </a:r>
                <a:r>
                  <a:rPr lang="ko-KR" altLang="en-US" b="1" dirty="0">
                    <a:solidFill>
                      <a:schemeClr val="accent1"/>
                    </a:solidFill>
                  </a:rPr>
                  <a:t> 기존 노드의 차수에 비례해 연결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altLang="ko-KR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076266-B49B-D89D-2C3E-AD4F3347C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86" y="2366730"/>
                <a:ext cx="9025332" cy="1684885"/>
              </a:xfrm>
              <a:prstGeom prst="rect">
                <a:avLst/>
              </a:prstGeom>
              <a:blipFill>
                <a:blip r:embed="rId2"/>
                <a:stretch>
                  <a:fillRect l="-540" t="-2527" b="-263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C74F155-10CB-BEE7-71B0-4E28ED62719A}"/>
              </a:ext>
            </a:extLst>
          </p:cNvPr>
          <p:cNvSpPr txBox="1"/>
          <p:nvPr/>
        </p:nvSpPr>
        <p:spPr>
          <a:xfrm>
            <a:off x="885286" y="4387909"/>
            <a:ext cx="6123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특성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1"/>
                </a:solidFill>
              </a:rPr>
              <a:t>네트워크가 균형 잡히지 않고 불균형한 구조를 가진다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71027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FCE4-CFF9-D472-A476-9CE5EB84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5551A2E-A401-EB31-20D1-5FA2CB114F4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41A0850-BC0F-5CF4-66AA-F58F4ABD00FC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E2076-2F6E-F77A-E128-1121541D3F8B}"/>
              </a:ext>
            </a:extLst>
          </p:cNvPr>
          <p:cNvSpPr txBox="1"/>
          <p:nvPr/>
        </p:nvSpPr>
        <p:spPr>
          <a:xfrm>
            <a:off x="1163052" y="272716"/>
            <a:ext cx="3489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17FBA37-90A1-CF5A-9E2A-BDBFEE8BD73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452D40-5AF0-5326-EF2A-619EE59A060B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016A25-0373-DE72-A04F-DA7AE24BF45A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84AF62-4A5A-3DF1-8B55-A87AA844E644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9746A-0CC0-C8A9-01B4-878557C06A85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BE5B572-0190-4071-9689-AA46486F4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889031"/>
            <a:ext cx="4401164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02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908A-773F-DAE4-ED63-6E50B50C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1826B2-DD6E-BA0A-9DF1-8380B7ED44C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CFC0D3-1C9B-584D-B11E-5ED505939F9F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B2795-C578-6580-29D8-45EC82C85BCC}"/>
              </a:ext>
            </a:extLst>
          </p:cNvPr>
          <p:cNvSpPr txBox="1"/>
          <p:nvPr/>
        </p:nvSpPr>
        <p:spPr>
          <a:xfrm>
            <a:off x="1163052" y="272716"/>
            <a:ext cx="3489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AC52A4-C0F0-435E-F6B5-DA67DF9F6DF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AD579A-E756-3B20-27D4-E3EE2F732B1C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93C61A-1A07-2DAD-9DD1-6C8E08D157FE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1C4312-164B-45D5-DD49-C01F2318A35B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963EAF-547F-E403-6CBF-B4CECC8E0A84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95EA65C-A3BF-04D9-E608-007FA6F83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889031"/>
            <a:ext cx="4401164" cy="3077004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21BFF2C-50E1-4FAA-3D7B-97CA578F6F4D}"/>
              </a:ext>
            </a:extLst>
          </p:cNvPr>
          <p:cNvCxnSpPr/>
          <p:nvPr/>
        </p:nvCxnSpPr>
        <p:spPr>
          <a:xfrm flipH="1">
            <a:off x="1819564" y="2503055"/>
            <a:ext cx="415636" cy="385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3AA1E7E-69D0-D418-41F6-D6D1EC2829B8}"/>
              </a:ext>
            </a:extLst>
          </p:cNvPr>
          <p:cNvSpPr txBox="1"/>
          <p:nvPr/>
        </p:nvSpPr>
        <p:spPr>
          <a:xfrm>
            <a:off x="2027382" y="2160514"/>
            <a:ext cx="289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최종 노드 수</a:t>
            </a:r>
          </a:p>
        </p:txBody>
      </p:sp>
    </p:spTree>
    <p:extLst>
      <p:ext uri="{BB962C8B-B14F-4D97-AF65-F5344CB8AC3E}">
        <p14:creationId xmlns:p14="http://schemas.microsoft.com/office/powerpoint/2010/main" val="2121331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A903-22C9-A719-7D20-F7DDA93E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36553CC-0202-5F1E-342A-A4414C2D1B6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C7FE1E5-3A4E-FFF5-5AD7-18A10E539FB4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2DD85-4698-BD86-A6F0-A29818EB961E}"/>
              </a:ext>
            </a:extLst>
          </p:cNvPr>
          <p:cNvSpPr txBox="1"/>
          <p:nvPr/>
        </p:nvSpPr>
        <p:spPr>
          <a:xfrm>
            <a:off x="1163052" y="272716"/>
            <a:ext cx="3489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28D89E4-84C6-5F17-CDD2-BBEEE58A7A84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D055D65-1A64-D9DD-353F-0F8A56A4A1F7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0404AD-00EA-D0F2-C530-47BE8B3CDA57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2E46E-E989-892F-5108-E70E66A8EEFC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67963-37D5-C5FC-3EF8-C4C5A3552B87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8916BF-9FCE-DBFF-DCA4-578460BEB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889031"/>
            <a:ext cx="4401164" cy="3077004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19B163B-3117-3B20-4F25-6D307DA04506}"/>
              </a:ext>
            </a:extLst>
          </p:cNvPr>
          <p:cNvCxnSpPr/>
          <p:nvPr/>
        </p:nvCxnSpPr>
        <p:spPr>
          <a:xfrm flipH="1">
            <a:off x="2022764" y="2510550"/>
            <a:ext cx="415636" cy="385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21654BB-EF67-58A9-3843-970F1F25B10C}"/>
              </a:ext>
            </a:extLst>
          </p:cNvPr>
          <p:cNvSpPr txBox="1"/>
          <p:nvPr/>
        </p:nvSpPr>
        <p:spPr>
          <a:xfrm>
            <a:off x="2130386" y="2160514"/>
            <a:ext cx="422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새로운 노드가 연결할 기존 노드 수 </a:t>
            </a:r>
          </a:p>
        </p:txBody>
      </p:sp>
    </p:spTree>
    <p:extLst>
      <p:ext uri="{BB962C8B-B14F-4D97-AF65-F5344CB8AC3E}">
        <p14:creationId xmlns:p14="http://schemas.microsoft.com/office/powerpoint/2010/main" val="355545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B64A-2141-F354-30D9-CC7CE53C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21104B-F5BB-9B0D-BF8B-41C415F9025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CDF9DA-4187-89B8-DABB-1E5191D764F2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1C259-F683-1524-4B41-C1DC39D30282}"/>
              </a:ext>
            </a:extLst>
          </p:cNvPr>
          <p:cNvSpPr txBox="1"/>
          <p:nvPr/>
        </p:nvSpPr>
        <p:spPr>
          <a:xfrm>
            <a:off x="1163052" y="272716"/>
            <a:ext cx="3489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4213C2F-9B6E-834C-C033-61C284655B9E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0C3B901-1C68-8148-393F-9DF4891EB3EE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2AF10F-9A7B-8D72-3825-BF6F2D4EB790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7F7797-4DF6-B175-F0A3-3B971BFD1CB6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49BFE-11A7-88CE-5CBB-A8405DF60625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6438C79-3F60-C109-94C3-09EABE19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889031"/>
            <a:ext cx="4401164" cy="3077004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51DD078-AA7B-D651-D45A-C5E0C64AFE49}"/>
              </a:ext>
            </a:extLst>
          </p:cNvPr>
          <p:cNvCxnSpPr/>
          <p:nvPr/>
        </p:nvCxnSpPr>
        <p:spPr>
          <a:xfrm flipH="1">
            <a:off x="4237154" y="3730481"/>
            <a:ext cx="415636" cy="385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2DA441-D2F7-904B-26BA-64770DDBB85F}"/>
                  </a:ext>
                </a:extLst>
              </p:cNvPr>
              <p:cNvSpPr txBox="1"/>
              <p:nvPr/>
            </p:nvSpPr>
            <p:spPr>
              <a:xfrm>
                <a:off x="4237154" y="3112046"/>
                <a:ext cx="4224231" cy="576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ko-KR" altLang="en-US" b="1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2DA441-D2F7-904B-26BA-64770DDBB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154" y="3112046"/>
                <a:ext cx="4224231" cy="576889"/>
              </a:xfrm>
              <a:prstGeom prst="rect">
                <a:avLst/>
              </a:prstGeom>
              <a:blipFill>
                <a:blip r:embed="rId3"/>
                <a:stretch>
                  <a:fillRect t="-13830" b="-808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364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6E90C-59BD-0A48-377E-055C2A4D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38A5CB8-8D1C-293C-8961-E9766A32DCB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DA45D7-F4FC-AD4E-C302-B7B226E3C261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E29BD-32B5-A6F6-910B-9E5C3DEAC861}"/>
              </a:ext>
            </a:extLst>
          </p:cNvPr>
          <p:cNvSpPr txBox="1"/>
          <p:nvPr/>
        </p:nvSpPr>
        <p:spPr>
          <a:xfrm>
            <a:off x="1163052" y="272716"/>
            <a:ext cx="3489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643E281-B51C-AF92-F14D-3D6F695D6EC6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624C78F-98B2-1017-6C74-B4B3262B31ED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13C9C96-4EC2-DBA6-F30C-80749B622323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8DC9DB-3EE1-9398-2DE6-272409B8F0D3}"/>
              </a:ext>
            </a:extLst>
          </p:cNvPr>
          <p:cNvSpPr txBox="1"/>
          <p:nvPr/>
        </p:nvSpPr>
        <p:spPr>
          <a:xfrm>
            <a:off x="885285" y="1453547"/>
            <a:ext cx="920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AF357-8245-8244-1BFC-5DE5185F301C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코드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1F9E479-A57D-FE6B-958E-AF194CDC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53" y="2889031"/>
            <a:ext cx="4401164" cy="3077004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3DAC2FA-3CB5-87B2-FB26-D2DC25AE6C09}"/>
              </a:ext>
            </a:extLst>
          </p:cNvPr>
          <p:cNvCxnSpPr/>
          <p:nvPr/>
        </p:nvCxnSpPr>
        <p:spPr>
          <a:xfrm flipH="1">
            <a:off x="5121548" y="4211236"/>
            <a:ext cx="415636" cy="385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06CF7A-53AF-329C-C54E-0E0CDA357E69}"/>
              </a:ext>
            </a:extLst>
          </p:cNvPr>
          <p:cNvSpPr txBox="1"/>
          <p:nvPr/>
        </p:nvSpPr>
        <p:spPr>
          <a:xfrm>
            <a:off x="5197736" y="3805097"/>
            <a:ext cx="4224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중복 방지</a:t>
            </a:r>
          </a:p>
        </p:txBody>
      </p:sp>
    </p:spTree>
    <p:extLst>
      <p:ext uri="{BB962C8B-B14F-4D97-AF65-F5344CB8AC3E}">
        <p14:creationId xmlns:p14="http://schemas.microsoft.com/office/powerpoint/2010/main" val="1910022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2DF8-AB48-0FB9-CCEE-6FC0F69A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68A2DD-D736-4C87-CA20-7347B6DA31B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A97AB1-91DF-DB41-F3E1-C9A17A6187A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FB8F3-75D5-738A-738C-8D4BC0653F4B}"/>
              </a:ext>
            </a:extLst>
          </p:cNvPr>
          <p:cNvSpPr txBox="1"/>
          <p:nvPr/>
        </p:nvSpPr>
        <p:spPr>
          <a:xfrm>
            <a:off x="1163052" y="272716"/>
            <a:ext cx="3550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E314CDF-7BE4-AD1F-6CAC-EFDA5EB94916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F5E56A9-DBAA-52BF-0FB8-83715AC86AE2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8FD6D37-56EB-D2A3-2E73-4AC89705BB8B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730B6-E2C2-78FA-AC3F-7966482680A7}"/>
              </a:ext>
            </a:extLst>
          </p:cNvPr>
          <p:cNvSpPr txBox="1"/>
          <p:nvPr/>
        </p:nvSpPr>
        <p:spPr>
          <a:xfrm>
            <a:off x="885285" y="1453547"/>
            <a:ext cx="931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A6D37-3057-B8D9-2BEC-86725C020EA3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E5F1084-341F-9AD2-2DD1-39F8BDAF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128" y="2091673"/>
            <a:ext cx="3344441" cy="420274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AD479D9-5785-FBD7-EFE8-ECE43F0BB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070" y="1950611"/>
            <a:ext cx="4064548" cy="437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885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27549-A9F2-24E2-1BF1-90853F83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7083F7E-E60D-2926-86D0-4EED5FA6CD7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35A4649-13B3-2D40-64FC-C032C359D8A0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DDD98-A398-7690-FDD0-512B5F801141}"/>
              </a:ext>
            </a:extLst>
          </p:cNvPr>
          <p:cNvSpPr txBox="1"/>
          <p:nvPr/>
        </p:nvSpPr>
        <p:spPr>
          <a:xfrm>
            <a:off x="1163052" y="272716"/>
            <a:ext cx="3550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랜덤 네트워크 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-  BA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model</a:t>
            </a:r>
            <a:endParaRPr lang="ko-KR" altLang="en-US" sz="2800" b="1" spc="-3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4388F0A-6C52-A295-CD21-E18C1EDC032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DFF41B8-2581-7581-83D2-DD57B62CCF30}"/>
              </a:ext>
            </a:extLst>
          </p:cNvPr>
          <p:cNvCxnSpPr>
            <a:cxnSpLocks/>
          </p:cNvCxnSpPr>
          <p:nvPr/>
        </p:nvCxnSpPr>
        <p:spPr>
          <a:xfrm>
            <a:off x="1010653" y="1217074"/>
            <a:ext cx="1118134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FAEA0F-072C-600B-0D0C-C051F9D2D255}"/>
              </a:ext>
            </a:extLst>
          </p:cNvPr>
          <p:cNvSpPr/>
          <p:nvPr/>
        </p:nvSpPr>
        <p:spPr>
          <a:xfrm>
            <a:off x="9910618" y="6410036"/>
            <a:ext cx="2179782" cy="287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1AC901-FBBD-576A-89BA-BBD90B292161}"/>
              </a:ext>
            </a:extLst>
          </p:cNvPr>
          <p:cNvSpPr txBox="1"/>
          <p:nvPr/>
        </p:nvSpPr>
        <p:spPr>
          <a:xfrm>
            <a:off x="885285" y="1453547"/>
            <a:ext cx="931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accent1"/>
                </a:solidFill>
              </a:rPr>
              <a:t>BA model : </a:t>
            </a:r>
            <a:r>
              <a:rPr lang="ko-KR" altLang="en-US" b="1" dirty="0">
                <a:solidFill>
                  <a:schemeClr val="accent1"/>
                </a:solidFill>
              </a:rPr>
              <a:t>차수가 많은 노드 일수록 새로운 노드가 연결될 확률이 높은 네트워크 </a:t>
            </a:r>
            <a:endParaRPr lang="en-US" altLang="ko-KR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664A3-D3D3-5581-B0DE-E04E50F5E25B}"/>
              </a:ext>
            </a:extLst>
          </p:cNvPr>
          <p:cNvSpPr txBox="1"/>
          <p:nvPr/>
        </p:nvSpPr>
        <p:spPr>
          <a:xfrm>
            <a:off x="885286" y="2366730"/>
            <a:ext cx="6123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 </a:t>
            </a:r>
            <a:endParaRPr lang="en-US" altLang="ko-KR" b="1" dirty="0">
              <a:solidFill>
                <a:schemeClr val="accent1"/>
              </a:solidFill>
            </a:endParaRPr>
          </a:p>
          <a:p>
            <a:endParaRPr lang="en-US" altLang="ko-KR" b="1" dirty="0">
              <a:solidFill>
                <a:schemeClr val="accent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C5DB94-A04E-D989-D99D-D1FBCA260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366" y="2023871"/>
            <a:ext cx="4770652" cy="37223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4ED399-BF3E-B2F0-232E-ABBB90FBE7BB}"/>
              </a:ext>
            </a:extLst>
          </p:cNvPr>
          <p:cNvSpPr txBox="1"/>
          <p:nvPr/>
        </p:nvSpPr>
        <p:spPr>
          <a:xfrm>
            <a:off x="1339140" y="5917506"/>
            <a:ext cx="10298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/>
                </a:solidFill>
              </a:rPr>
              <a:t>실제 네트워크와 비슷한 성질을 가진 </a:t>
            </a:r>
            <a:r>
              <a:rPr lang="en-US" altLang="ko-KR" b="1" dirty="0">
                <a:solidFill>
                  <a:schemeClr val="accent1"/>
                </a:solidFill>
              </a:rPr>
              <a:t>BA </a:t>
            </a:r>
            <a:r>
              <a:rPr lang="ko-KR" altLang="en-US" b="1" dirty="0">
                <a:solidFill>
                  <a:schemeClr val="accent1"/>
                </a:solidFill>
              </a:rPr>
              <a:t>모델이 </a:t>
            </a:r>
            <a:r>
              <a:rPr lang="en-US" altLang="ko-KR" b="1" dirty="0">
                <a:solidFill>
                  <a:schemeClr val="accent1"/>
                </a:solidFill>
              </a:rPr>
              <a:t>ER</a:t>
            </a:r>
            <a:r>
              <a:rPr lang="ko-KR" altLang="en-US" b="1" dirty="0">
                <a:solidFill>
                  <a:schemeClr val="accent1"/>
                </a:solidFill>
              </a:rPr>
              <a:t>보다  </a:t>
            </a:r>
            <a:r>
              <a:rPr lang="en-US" altLang="ko-KR" b="1" dirty="0">
                <a:solidFill>
                  <a:schemeClr val="accent1"/>
                </a:solidFill>
              </a:rPr>
              <a:t>CCDF</a:t>
            </a:r>
            <a:r>
              <a:rPr lang="ko-KR" altLang="en-US" b="1" dirty="0">
                <a:solidFill>
                  <a:schemeClr val="accent1"/>
                </a:solidFill>
              </a:rPr>
              <a:t>에서 좀더 선형적인 모습이 보인다</a:t>
            </a:r>
            <a:r>
              <a:rPr lang="en-US" altLang="ko-KR" b="1" dirty="0">
                <a:solidFill>
                  <a:schemeClr val="accent1"/>
                </a:solidFill>
              </a:rPr>
              <a:t>.</a:t>
            </a:r>
            <a:r>
              <a:rPr lang="ko-KR" altLang="en-US" b="1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053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1378</Words>
  <Application>Microsoft Office PowerPoint</Application>
  <PresentationFormat>와이드스크린</PresentationFormat>
  <Paragraphs>294</Paragraphs>
  <Slides>53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0" baseType="lpstr">
      <vt:lpstr>Pretendard</vt:lpstr>
      <vt:lpstr>Pretendard Black</vt:lpstr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dkdlfjswpswkd@naver.com</cp:lastModifiedBy>
  <cp:revision>48</cp:revision>
  <dcterms:created xsi:type="dcterms:W3CDTF">2022-08-03T01:14:38Z</dcterms:created>
  <dcterms:modified xsi:type="dcterms:W3CDTF">2024-12-03T12:20:33Z</dcterms:modified>
</cp:coreProperties>
</file>